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Lst>
  <p:notesMasterIdLst>
    <p:notesMasterId r:id="rId16"/>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notesMaster" Target="notesMasters/notesMaster1.xml"/><Relationship Id="rId17" Type="http://schemas.openxmlformats.org/officeDocument/2006/relationships/presProps" Target="presProps.xml"/><Relationship Id="rId18" Type="http://schemas.openxmlformats.org/officeDocument/2006/relationships/viewProps" Target="viewProps.xml"/><Relationship Id="rId19" Type="http://schemas.openxmlformats.org/officeDocument/2006/relationships/theme" Target="theme/theme1.xml"/><Relationship Id="rId20"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hyperlink" Target="https://example.com/playbook" TargetMode="External"/><Relationship Id="rId2" Type="http://schemas.openxmlformats.org/officeDocument/2006/relationships/slideLayout" Target="../slideLayouts/slideLayout1.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82338"/>
        </a:solidFill>
      </p:bgPr>
    </p:bg>
    <p:spTree>
      <p:nvGrpSpPr>
        <p:cNvPr id="1" name=""/>
        <p:cNvGrpSpPr/>
        <p:nvPr/>
      </p:nvGrpSpPr>
      <p:grpSpPr>
        <a:xfrm>
          <a:off x="0" y="0"/>
          <a:ext cx="0" cy="0"/>
          <a:chOff x="0" y="0"/>
          <a:chExt cx="0" cy="0"/>
        </a:xfrm>
      </p:grpSpPr>
      <p:sp>
        <p:nvSpPr>
          <p:cNvPr id="2" name="Shape 0"/>
          <p:cNvSpPr/>
          <p:nvPr/>
        </p:nvSpPr>
        <p:spPr>
          <a:xfrm>
            <a:off x="0" y="0"/>
            <a:ext cx="164592" cy="6858000"/>
          </a:xfrm>
          <a:prstGeom prst="rect">
            <a:avLst/>
          </a:prstGeom>
          <a:solidFill>
            <a:srgbClr val="0F6CBD"/>
          </a:solidFill>
          <a:ln w="12700">
            <a:solidFill>
              <a:srgbClr val="0F6CBD"/>
            </a:solidFill>
            <a:prstDash val="solid"/>
          </a:ln>
        </p:spPr>
      </p:sp>
      <p:sp>
        <p:nvSpPr>
          <p:cNvPr id="3" name="Text 1"/>
          <p:cNvSpPr/>
          <p:nvPr/>
        </p:nvSpPr>
        <p:spPr>
          <a:xfrm>
            <a:off x="731520" y="594360"/>
            <a:ext cx="3657600" cy="274320"/>
          </a:xfrm>
          <a:prstGeom prst="rect">
            <a:avLst/>
          </a:prstGeom>
          <a:noFill/>
          <a:ln/>
        </p:spPr>
        <p:txBody>
          <a:bodyPr wrap="square" lIns="0" tIns="0" rIns="0" bIns="0" rtlCol="0" anchor="ctr"/>
          <a:lstStyle/>
          <a:p>
            <a:pPr indent="0" marL="0">
              <a:buNone/>
            </a:pPr>
            <a:r>
              <a:rPr lang="en-US" sz="1200" b="1" spc="200" kern="0" dirty="0">
                <a:solidFill>
                  <a:srgbClr val="72D8FF"/>
                </a:solidFill>
                <a:latin typeface="Aptos" pitchFamily="34" charset="0"/>
                <a:ea typeface="Aptos" pitchFamily="34" charset="-122"/>
                <a:cs typeface="Aptos" pitchFamily="34" charset="-120"/>
              </a:rPr>
              <a:t>AITO HUDDLE</a:t>
            </a:r>
            <a:endParaRPr lang="en-US" sz="1200" dirty="0"/>
          </a:p>
        </p:txBody>
      </p:sp>
      <p:sp>
        <p:nvSpPr>
          <p:cNvPr id="4" name="Text 2"/>
          <p:cNvSpPr/>
          <p:nvPr/>
        </p:nvSpPr>
        <p:spPr>
          <a:xfrm>
            <a:off x="731520" y="1234440"/>
            <a:ext cx="9966960" cy="1554480"/>
          </a:xfrm>
          <a:prstGeom prst="rect">
            <a:avLst/>
          </a:prstGeom>
          <a:noFill/>
          <a:ln/>
        </p:spPr>
        <p:txBody>
          <a:bodyPr wrap="square" lIns="0" tIns="0" rIns="0" bIns="0" rtlCol="0" anchor="ctr">
            <a:normAutofit/>
          </a:bodyPr>
          <a:lstStyle/>
          <a:p>
            <a:pPr indent="0" marL="0">
              <a:buNone/>
            </a:pPr>
            <a:r>
              <a:rPr lang="en-US" sz="3200" b="1" dirty="0">
                <a:solidFill>
                  <a:srgbClr val="FFFFFF"/>
                </a:solidFill>
                <a:latin typeface="Aptos Display" pitchFamily="34" charset="0"/>
                <a:ea typeface="Aptos Display" pitchFamily="34" charset="-122"/>
                <a:cs typeface="Aptos Display" pitchFamily="34" charset="-120"/>
              </a:rPr>
              <a:t>Accelerate a Strategic Deal</a:t>
            </a:r>
            <a:endParaRPr lang="en-US" sz="3200" dirty="0"/>
          </a:p>
        </p:txBody>
      </p:sp>
      <p:sp>
        <p:nvSpPr>
          <p:cNvPr id="5" name="Text 3"/>
          <p:cNvSpPr/>
          <p:nvPr/>
        </p:nvSpPr>
        <p:spPr>
          <a:xfrm>
            <a:off x="749808" y="2926080"/>
            <a:ext cx="9509760" cy="960120"/>
          </a:xfrm>
          <a:prstGeom prst="rect">
            <a:avLst/>
          </a:prstGeom>
          <a:noFill/>
          <a:ln/>
        </p:spPr>
        <p:txBody>
          <a:bodyPr wrap="square" lIns="0" tIns="0" rIns="0" bIns="0" rtlCol="0" anchor="ctr">
            <a:normAutofit/>
          </a:bodyPr>
          <a:lstStyle/>
          <a:p>
            <a:pPr indent="0" marL="0">
              <a:buNone/>
            </a:pPr>
            <a:r>
              <a:rPr lang="en-US" sz="1800" dirty="0">
                <a:solidFill>
                  <a:srgbClr val="DDEBF7"/>
                </a:solidFill>
                <a:latin typeface="Aptos" pitchFamily="34" charset="0"/>
                <a:ea typeface="Aptos" pitchFamily="34" charset="-122"/>
                <a:cs typeface="Aptos" pitchFamily="34" charset="-120"/>
              </a:rPr>
              <a:t>Apply AI to prepare a grounded, decision-ready deal review.</a:t>
            </a:r>
            <a:endParaRPr lang="en-US" sz="1800" dirty="0"/>
          </a:p>
        </p:txBody>
      </p:sp>
      <p:sp>
        <p:nvSpPr>
          <p:cNvPr id="6" name="Text 4"/>
          <p:cNvSpPr/>
          <p:nvPr/>
        </p:nvSpPr>
        <p:spPr>
          <a:xfrm>
            <a:off x="749808" y="5074920"/>
            <a:ext cx="9875520" cy="365760"/>
          </a:xfrm>
          <a:prstGeom prst="rect">
            <a:avLst/>
          </a:prstGeom>
          <a:noFill/>
          <a:ln/>
        </p:spPr>
        <p:txBody>
          <a:bodyPr wrap="square" lIns="0" tIns="0" rIns="0" bIns="0" rtlCol="0" anchor="ctr">
            <a:normAutofit/>
          </a:bodyPr>
          <a:lstStyle/>
          <a:p>
            <a:pPr indent="0" marL="0">
              <a:buNone/>
            </a:pPr>
            <a:r>
              <a:rPr lang="en-US" sz="1400" dirty="0">
                <a:solidFill>
                  <a:srgbClr val="FFFFFF"/>
                </a:solidFill>
                <a:latin typeface="Aptos" pitchFamily="34" charset="0"/>
                <a:ea typeface="Aptos" pitchFamily="34" charset="-122"/>
                <a:cs typeface="Aptos" pitchFamily="34" charset="-120"/>
              </a:rPr>
              <a:t>Prescriptive  •  Seller  •  30 minutes</a:t>
            </a:r>
            <a:endParaRPr lang="en-US" sz="1400" dirty="0"/>
          </a:p>
        </p:txBody>
      </p:sp>
      <p:sp>
        <p:nvSpPr>
          <p:cNvPr id="7" name="Shape 5"/>
          <p:cNvSpPr/>
          <p:nvPr/>
        </p:nvSpPr>
        <p:spPr>
          <a:xfrm>
            <a:off x="10012680" y="4846320"/>
            <a:ext cx="1325880" cy="1325880"/>
          </a:xfrm>
          <a:prstGeom prst="roundRect">
            <a:avLst>
              <a:gd name="adj" fmla="val 5517"/>
            </a:avLst>
          </a:prstGeom>
          <a:solidFill>
            <a:srgbClr val="0F6CBD"/>
          </a:solidFill>
          <a:ln w="12700">
            <a:solidFill>
              <a:srgbClr val="0F6CBD"/>
            </a:solidFill>
            <a:prstDash val="solid"/>
          </a:ln>
        </p:spPr>
      </p:sp>
      <p:sp>
        <p:nvSpPr>
          <p:cNvPr id="8" name="Text 6"/>
          <p:cNvSpPr/>
          <p:nvPr/>
        </p:nvSpPr>
        <p:spPr>
          <a:xfrm>
            <a:off x="10222992" y="5138928"/>
            <a:ext cx="914400" cy="548640"/>
          </a:xfrm>
          <a:prstGeom prst="rect">
            <a:avLst/>
          </a:prstGeom>
          <a:noFill/>
          <a:ln/>
        </p:spPr>
        <p:txBody>
          <a:bodyPr wrap="square" lIns="0" tIns="0" rIns="0" bIns="0" rtlCol="0" anchor="ctr"/>
          <a:lstStyle/>
          <a:p>
            <a:pPr algn="ctr" indent="0" marL="0">
              <a:buNone/>
            </a:pPr>
            <a:r>
              <a:rPr lang="en-US" sz="2800" b="1" dirty="0">
                <a:solidFill>
                  <a:srgbClr val="FFFFFF"/>
                </a:solidFill>
                <a:latin typeface="Aptos Display" pitchFamily="34" charset="0"/>
                <a:ea typeface="Aptos Display" pitchFamily="34" charset="-122"/>
                <a:cs typeface="Aptos Display" pitchFamily="34" charset="-120"/>
              </a:rPr>
              <a:t>AI</a:t>
            </a:r>
            <a:endParaRPr lang="en-US" sz="28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91695" cy="109728"/>
          </a:xfrm>
          <a:prstGeom prst="rect">
            <a:avLst/>
          </a:prstGeom>
          <a:solidFill>
            <a:srgbClr val="0F6CBD"/>
          </a:solidFill>
          <a:ln w="12700">
            <a:solidFill>
              <a:srgbClr val="0F6CBD"/>
            </a:solidFill>
            <a:prstDash val="solid"/>
          </a:ln>
        </p:spPr>
      </p:sp>
      <p:sp>
        <p:nvSpPr>
          <p:cNvPr id="3" name="Text 1"/>
          <p:cNvSpPr/>
          <p:nvPr/>
        </p:nvSpPr>
        <p:spPr>
          <a:xfrm>
            <a:off x="594360" y="347472"/>
            <a:ext cx="10881360" cy="438912"/>
          </a:xfrm>
          <a:prstGeom prst="rect">
            <a:avLst/>
          </a:prstGeom>
          <a:noFill/>
          <a:ln/>
        </p:spPr>
        <p:txBody>
          <a:bodyPr wrap="square" lIns="0" tIns="0" rIns="0" bIns="0" rtlCol="0" anchor="ctr">
            <a:normAutofit/>
          </a:bodyPr>
          <a:lstStyle/>
          <a:p>
            <a:pPr indent="0" marL="0">
              <a:buNone/>
            </a:pPr>
            <a:r>
              <a:rPr lang="en-US" sz="2400" b="1" dirty="0">
                <a:solidFill>
                  <a:srgbClr val="082338"/>
                </a:solidFill>
                <a:latin typeface="Aptos Display" pitchFamily="34" charset="0"/>
                <a:ea typeface="Aptos Display" pitchFamily="34" charset="-122"/>
                <a:cs typeface="Aptos Display" pitchFamily="34" charset="-120"/>
              </a:rPr>
              <a:t>Huddle context</a:t>
            </a:r>
            <a:endParaRPr lang="en-US" sz="2400" dirty="0"/>
          </a:p>
        </p:txBody>
      </p:sp>
      <p:sp>
        <p:nvSpPr>
          <p:cNvPr id="4" name="Text 2"/>
          <p:cNvSpPr/>
          <p:nvPr/>
        </p:nvSpPr>
        <p:spPr>
          <a:xfrm>
            <a:off x="612648" y="841248"/>
            <a:ext cx="10789920" cy="274320"/>
          </a:xfrm>
          <a:prstGeom prst="rect">
            <a:avLst/>
          </a:prstGeom>
          <a:noFill/>
          <a:ln/>
        </p:spPr>
        <p:txBody>
          <a:bodyPr wrap="square" lIns="0" tIns="0" rIns="0" bIns="0" rtlCol="0" anchor="ctr">
            <a:normAutofit/>
          </a:bodyPr>
          <a:lstStyle/>
          <a:p>
            <a:pPr indent="0" marL="0">
              <a:buNone/>
            </a:pPr>
            <a:r>
              <a:rPr lang="en-US" sz="1050" dirty="0">
                <a:solidFill>
                  <a:srgbClr val="616161"/>
                </a:solidFill>
                <a:latin typeface="Aptos" pitchFamily="34" charset="0"/>
                <a:ea typeface="Aptos" pitchFamily="34" charset="-122"/>
                <a:cs typeface="Aptos" pitchFamily="34" charset="-120"/>
              </a:rPr>
              <a:t>Seller</a:t>
            </a:r>
            <a:endParaRPr lang="en-US" sz="1050" dirty="0"/>
          </a:p>
        </p:txBody>
      </p:sp>
      <p:sp>
        <p:nvSpPr>
          <p:cNvPr id="5" name="Text 3"/>
          <p:cNvSpPr/>
          <p:nvPr/>
        </p:nvSpPr>
        <p:spPr>
          <a:xfrm>
            <a:off x="594360" y="6547104"/>
            <a:ext cx="2743200" cy="164592"/>
          </a:xfrm>
          <a:prstGeom prst="rect">
            <a:avLst/>
          </a:prstGeom>
          <a:noFill/>
          <a:ln/>
        </p:spPr>
        <p:txBody>
          <a:bodyPr wrap="square" lIns="0" tIns="0" rIns="0" bIns="0" rtlCol="0" anchor="ctr"/>
          <a:lstStyle/>
          <a:p>
            <a:pPr indent="0" marL="0">
              <a:buNone/>
            </a:pPr>
            <a:r>
              <a:rPr lang="en-US" sz="800" dirty="0">
                <a:solidFill>
                  <a:srgbClr val="616161"/>
                </a:solidFill>
                <a:latin typeface="Aptos" pitchFamily="34" charset="0"/>
                <a:ea typeface="Aptos" pitchFamily="34" charset="-122"/>
                <a:cs typeface="Aptos" pitchFamily="34" charset="-120"/>
              </a:rPr>
              <a:t>AITO  |  Huddle</a:t>
            </a:r>
            <a:endParaRPr lang="en-US" sz="800" dirty="0"/>
          </a:p>
        </p:txBody>
      </p:sp>
      <p:sp>
        <p:nvSpPr>
          <p:cNvPr id="6" name="Shape 4"/>
          <p:cNvSpPr/>
          <p:nvPr/>
        </p:nvSpPr>
        <p:spPr>
          <a:xfrm>
            <a:off x="640080" y="1234440"/>
            <a:ext cx="10908792" cy="1143000"/>
          </a:xfrm>
          <a:prstGeom prst="roundRect">
            <a:avLst>
              <a:gd name="adj" fmla="val 4800"/>
            </a:avLst>
          </a:prstGeom>
          <a:solidFill>
            <a:srgbClr val="F5F9FF"/>
          </a:solidFill>
          <a:ln w="8890">
            <a:solidFill>
              <a:srgbClr val="D1D1D1"/>
            </a:solidFill>
            <a:prstDash val="solid"/>
          </a:ln>
        </p:spPr>
      </p:sp>
      <p:sp>
        <p:nvSpPr>
          <p:cNvPr id="7" name="Text 5"/>
          <p:cNvSpPr/>
          <p:nvPr/>
        </p:nvSpPr>
        <p:spPr>
          <a:xfrm>
            <a:off x="868680" y="1399032"/>
            <a:ext cx="10424160" cy="228600"/>
          </a:xfrm>
          <a:prstGeom prst="rect">
            <a:avLst/>
          </a:prstGeom>
          <a:noFill/>
          <a:ln/>
        </p:spPr>
        <p:txBody>
          <a:bodyPr wrap="square" lIns="0" tIns="0" rIns="0" bIns="0" rtlCol="0" anchor="ctr"/>
          <a:lstStyle/>
          <a:p>
            <a:pPr indent="0" marL="0">
              <a:buNone/>
            </a:pPr>
            <a:r>
              <a:rPr lang="en-US" sz="900" b="1" dirty="0">
                <a:solidFill>
                  <a:srgbClr val="0F6CBD"/>
                </a:solidFill>
                <a:latin typeface="Aptos" pitchFamily="34" charset="0"/>
                <a:ea typeface="Aptos" pitchFamily="34" charset="-122"/>
                <a:cs typeface="Aptos" pitchFamily="34" charset="-120"/>
              </a:rPr>
              <a:t>TODAY'S OBJECTIVE</a:t>
            </a:r>
            <a:endParaRPr lang="en-US" sz="900" dirty="0"/>
          </a:p>
        </p:txBody>
      </p:sp>
      <p:sp>
        <p:nvSpPr>
          <p:cNvPr id="8" name="Text 6"/>
          <p:cNvSpPr/>
          <p:nvPr/>
        </p:nvSpPr>
        <p:spPr>
          <a:xfrm>
            <a:off x="868680" y="1709928"/>
            <a:ext cx="10378440" cy="521208"/>
          </a:xfrm>
          <a:prstGeom prst="rect">
            <a:avLst/>
          </a:prstGeom>
          <a:noFill/>
          <a:ln/>
        </p:spPr>
        <p:txBody>
          <a:bodyPr wrap="square" lIns="0" tIns="0" rIns="0" bIns="0" rtlCol="0" anchor="t">
            <a:normAutofit/>
          </a:bodyPr>
          <a:lstStyle/>
          <a:p>
            <a:pPr indent="0" marL="0">
              <a:buNone/>
            </a:pPr>
            <a:r>
              <a:rPr lang="en-US" sz="1300" dirty="0">
                <a:solidFill>
                  <a:srgbClr val="242424"/>
                </a:solidFill>
                <a:latin typeface="Aptos" pitchFamily="34" charset="0"/>
                <a:ea typeface="Aptos" pitchFamily="34" charset="-122"/>
                <a:cs typeface="Aptos" pitchFamily="34" charset="-120"/>
              </a:rPr>
              <a:t>Prepare a concise deal inspection.</a:t>
            </a:r>
            <a:endParaRPr lang="en-US" sz="1300" dirty="0"/>
          </a:p>
        </p:txBody>
      </p:sp>
      <p:sp>
        <p:nvSpPr>
          <p:cNvPr id="9" name="Shape 7"/>
          <p:cNvSpPr/>
          <p:nvPr/>
        </p:nvSpPr>
        <p:spPr>
          <a:xfrm>
            <a:off x="640080" y="2487168"/>
            <a:ext cx="10908792" cy="1143000"/>
          </a:xfrm>
          <a:prstGeom prst="roundRect">
            <a:avLst>
              <a:gd name="adj" fmla="val 4800"/>
            </a:avLst>
          </a:prstGeom>
          <a:solidFill>
            <a:srgbClr val="F5F9FF"/>
          </a:solidFill>
          <a:ln w="8890">
            <a:solidFill>
              <a:srgbClr val="D1D1D1"/>
            </a:solidFill>
            <a:prstDash val="solid"/>
          </a:ln>
        </p:spPr>
      </p:sp>
      <p:sp>
        <p:nvSpPr>
          <p:cNvPr id="10" name="Text 8"/>
          <p:cNvSpPr/>
          <p:nvPr/>
        </p:nvSpPr>
        <p:spPr>
          <a:xfrm>
            <a:off x="868680" y="2651760"/>
            <a:ext cx="10424160" cy="228600"/>
          </a:xfrm>
          <a:prstGeom prst="rect">
            <a:avLst/>
          </a:prstGeom>
          <a:noFill/>
          <a:ln/>
        </p:spPr>
        <p:txBody>
          <a:bodyPr wrap="square" lIns="0" tIns="0" rIns="0" bIns="0" rtlCol="0" anchor="ctr"/>
          <a:lstStyle/>
          <a:p>
            <a:pPr indent="0" marL="0">
              <a:buNone/>
            </a:pPr>
            <a:r>
              <a:rPr lang="en-US" sz="900" b="1" dirty="0">
                <a:solidFill>
                  <a:srgbClr val="0F6CBD"/>
                </a:solidFill>
                <a:latin typeface="Aptos" pitchFamily="34" charset="0"/>
                <a:ea typeface="Aptos" pitchFamily="34" charset="-122"/>
                <a:cs typeface="Aptos" pitchFamily="34" charset="-120"/>
              </a:rPr>
              <a:t>USE CASE</a:t>
            </a:r>
            <a:endParaRPr lang="en-US" sz="900" dirty="0"/>
          </a:p>
        </p:txBody>
      </p:sp>
      <p:sp>
        <p:nvSpPr>
          <p:cNvPr id="11" name="Text 9"/>
          <p:cNvSpPr/>
          <p:nvPr/>
        </p:nvSpPr>
        <p:spPr>
          <a:xfrm>
            <a:off x="868680" y="2962656"/>
            <a:ext cx="10378440" cy="521208"/>
          </a:xfrm>
          <a:prstGeom prst="rect">
            <a:avLst/>
          </a:prstGeom>
          <a:noFill/>
          <a:ln/>
        </p:spPr>
        <p:txBody>
          <a:bodyPr wrap="square" lIns="0" tIns="0" rIns="0" bIns="0" rtlCol="0" anchor="t">
            <a:normAutofit/>
          </a:bodyPr>
          <a:lstStyle/>
          <a:p>
            <a:pPr indent="0" marL="0">
              <a:buNone/>
            </a:pPr>
            <a:r>
              <a:rPr lang="en-US" sz="1300" dirty="0">
                <a:solidFill>
                  <a:srgbClr val="242424"/>
                </a:solidFill>
                <a:latin typeface="Aptos" pitchFamily="34" charset="0"/>
                <a:ea typeface="Aptos" pitchFamily="34" charset="-122"/>
                <a:cs typeface="Aptos" pitchFamily="34" charset="-120"/>
              </a:rPr>
              <a:t>A priority opportunity needs alignment.</a:t>
            </a:r>
            <a:endParaRPr lang="en-US" sz="1300" dirty="0"/>
          </a:p>
        </p:txBody>
      </p:sp>
      <p:sp>
        <p:nvSpPr>
          <p:cNvPr id="12" name="Shape 10"/>
          <p:cNvSpPr/>
          <p:nvPr/>
        </p:nvSpPr>
        <p:spPr>
          <a:xfrm>
            <a:off x="640080" y="3739896"/>
            <a:ext cx="10908792" cy="1143000"/>
          </a:xfrm>
          <a:prstGeom prst="roundRect">
            <a:avLst>
              <a:gd name="adj" fmla="val 4800"/>
            </a:avLst>
          </a:prstGeom>
          <a:solidFill>
            <a:srgbClr val="F5F9FF"/>
          </a:solidFill>
          <a:ln w="8890">
            <a:solidFill>
              <a:srgbClr val="D1D1D1"/>
            </a:solidFill>
            <a:prstDash val="solid"/>
          </a:ln>
        </p:spPr>
      </p:sp>
      <p:sp>
        <p:nvSpPr>
          <p:cNvPr id="13" name="Text 11"/>
          <p:cNvSpPr/>
          <p:nvPr/>
        </p:nvSpPr>
        <p:spPr>
          <a:xfrm>
            <a:off x="868680" y="3904488"/>
            <a:ext cx="10424160" cy="228600"/>
          </a:xfrm>
          <a:prstGeom prst="rect">
            <a:avLst/>
          </a:prstGeom>
          <a:noFill/>
          <a:ln/>
        </p:spPr>
        <p:txBody>
          <a:bodyPr wrap="square" lIns="0" tIns="0" rIns="0" bIns="0" rtlCol="0" anchor="ctr"/>
          <a:lstStyle/>
          <a:p>
            <a:pPr indent="0" marL="0">
              <a:buNone/>
            </a:pPr>
            <a:r>
              <a:rPr lang="en-US" sz="900" b="1" dirty="0">
                <a:solidFill>
                  <a:srgbClr val="0F6CBD"/>
                </a:solidFill>
                <a:latin typeface="Aptos" pitchFamily="34" charset="0"/>
                <a:ea typeface="Aptos" pitchFamily="34" charset="-122"/>
                <a:cs typeface="Aptos" pitchFamily="34" charset="-120"/>
              </a:rPr>
              <a:t>WHY IT MATTERS</a:t>
            </a:r>
            <a:endParaRPr lang="en-US" sz="900" dirty="0"/>
          </a:p>
        </p:txBody>
      </p:sp>
      <p:sp>
        <p:nvSpPr>
          <p:cNvPr id="14" name="Text 12"/>
          <p:cNvSpPr/>
          <p:nvPr/>
        </p:nvSpPr>
        <p:spPr>
          <a:xfrm>
            <a:off x="868680" y="4215384"/>
            <a:ext cx="10378440" cy="521208"/>
          </a:xfrm>
          <a:prstGeom prst="rect">
            <a:avLst/>
          </a:prstGeom>
          <a:noFill/>
          <a:ln/>
        </p:spPr>
        <p:txBody>
          <a:bodyPr wrap="square" lIns="0" tIns="0" rIns="0" bIns="0" rtlCol="0" anchor="t">
            <a:normAutofit/>
          </a:bodyPr>
          <a:lstStyle/>
          <a:p>
            <a:pPr indent="0" marL="0">
              <a:buNone/>
            </a:pPr>
            <a:r>
              <a:rPr lang="en-US" sz="1300" dirty="0">
                <a:solidFill>
                  <a:srgbClr val="242424"/>
                </a:solidFill>
                <a:latin typeface="Aptos" pitchFamily="34" charset="0"/>
                <a:ea typeface="Aptos" pitchFamily="34" charset="-122"/>
                <a:cs typeface="Aptos" pitchFamily="34" charset="-120"/>
              </a:rPr>
              <a:t>Focused preparation improves decision quality.</a:t>
            </a:r>
            <a:endParaRPr lang="en-US" sz="1300" dirty="0"/>
          </a:p>
        </p:txBody>
      </p:sp>
      <p:sp>
        <p:nvSpPr>
          <p:cNvPr id="15" name="Shape 13"/>
          <p:cNvSpPr/>
          <p:nvPr/>
        </p:nvSpPr>
        <p:spPr>
          <a:xfrm>
            <a:off x="640080" y="4992624"/>
            <a:ext cx="10908792" cy="1143000"/>
          </a:xfrm>
          <a:prstGeom prst="roundRect">
            <a:avLst>
              <a:gd name="adj" fmla="val 4800"/>
            </a:avLst>
          </a:prstGeom>
          <a:solidFill>
            <a:srgbClr val="F5F9FF"/>
          </a:solidFill>
          <a:ln w="8890">
            <a:solidFill>
              <a:srgbClr val="D1D1D1"/>
            </a:solidFill>
            <a:prstDash val="solid"/>
          </a:ln>
        </p:spPr>
      </p:sp>
      <p:sp>
        <p:nvSpPr>
          <p:cNvPr id="16" name="Text 14"/>
          <p:cNvSpPr/>
          <p:nvPr/>
        </p:nvSpPr>
        <p:spPr>
          <a:xfrm>
            <a:off x="868680" y="5157216"/>
            <a:ext cx="10424160" cy="228600"/>
          </a:xfrm>
          <a:prstGeom prst="rect">
            <a:avLst/>
          </a:prstGeom>
          <a:noFill/>
          <a:ln/>
        </p:spPr>
        <p:txBody>
          <a:bodyPr wrap="square" lIns="0" tIns="0" rIns="0" bIns="0" rtlCol="0" anchor="ctr"/>
          <a:lstStyle/>
          <a:p>
            <a:pPr indent="0" marL="0">
              <a:buNone/>
            </a:pPr>
            <a:r>
              <a:rPr lang="en-US" sz="900" b="1" dirty="0">
                <a:solidFill>
                  <a:srgbClr val="0F6CBD"/>
                </a:solidFill>
                <a:latin typeface="Aptos" pitchFamily="34" charset="0"/>
                <a:ea typeface="Aptos" pitchFamily="34" charset="-122"/>
                <a:cs typeface="Aptos" pitchFamily="34" charset="-120"/>
              </a:rPr>
              <a:t>DESIRED OUTCOME</a:t>
            </a:r>
            <a:endParaRPr lang="en-US" sz="900" dirty="0"/>
          </a:p>
        </p:txBody>
      </p:sp>
      <p:sp>
        <p:nvSpPr>
          <p:cNvPr id="17" name="Text 15"/>
          <p:cNvSpPr/>
          <p:nvPr/>
        </p:nvSpPr>
        <p:spPr>
          <a:xfrm>
            <a:off x="868680" y="5468112"/>
            <a:ext cx="10378440" cy="521208"/>
          </a:xfrm>
          <a:prstGeom prst="rect">
            <a:avLst/>
          </a:prstGeom>
          <a:noFill/>
          <a:ln/>
        </p:spPr>
        <p:txBody>
          <a:bodyPr wrap="square" lIns="0" tIns="0" rIns="0" bIns="0" rtlCol="0" anchor="t">
            <a:normAutofit/>
          </a:bodyPr>
          <a:lstStyle/>
          <a:p>
            <a:pPr indent="0" marL="0">
              <a:buNone/>
            </a:pPr>
            <a:r>
              <a:rPr lang="en-US" sz="1300" dirty="0">
                <a:solidFill>
                  <a:srgbClr val="242424"/>
                </a:solidFill>
                <a:latin typeface="Aptos" pitchFamily="34" charset="0"/>
                <a:ea typeface="Aptos" pitchFamily="34" charset="-122"/>
                <a:cs typeface="Aptos" pitchFamily="34" charset="-120"/>
              </a:rPr>
              <a:t>An agreed action plan.</a:t>
            </a:r>
            <a:endParaRPr lang="en-US" sz="13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91695" cy="109728"/>
          </a:xfrm>
          <a:prstGeom prst="rect">
            <a:avLst/>
          </a:prstGeom>
          <a:solidFill>
            <a:srgbClr val="0F6CBD"/>
          </a:solidFill>
          <a:ln w="12700">
            <a:solidFill>
              <a:srgbClr val="0F6CBD"/>
            </a:solidFill>
            <a:prstDash val="solid"/>
          </a:ln>
        </p:spPr>
      </p:sp>
      <p:sp>
        <p:nvSpPr>
          <p:cNvPr id="3" name="Text 1"/>
          <p:cNvSpPr/>
          <p:nvPr/>
        </p:nvSpPr>
        <p:spPr>
          <a:xfrm>
            <a:off x="594360" y="347472"/>
            <a:ext cx="10881360" cy="438912"/>
          </a:xfrm>
          <a:prstGeom prst="rect">
            <a:avLst/>
          </a:prstGeom>
          <a:noFill/>
          <a:ln/>
        </p:spPr>
        <p:txBody>
          <a:bodyPr wrap="square" lIns="0" tIns="0" rIns="0" bIns="0" rtlCol="0" anchor="ctr">
            <a:normAutofit/>
          </a:bodyPr>
          <a:lstStyle/>
          <a:p>
            <a:pPr indent="0" marL="0">
              <a:buNone/>
            </a:pPr>
            <a:r>
              <a:rPr lang="en-US" sz="2400" b="1" dirty="0">
                <a:solidFill>
                  <a:srgbClr val="082338"/>
                </a:solidFill>
                <a:latin typeface="Aptos Display" pitchFamily="34" charset="0"/>
                <a:ea typeface="Aptos Display" pitchFamily="34" charset="-122"/>
                <a:cs typeface="Aptos Display" pitchFamily="34" charset="-120"/>
              </a:rPr>
              <a:t>AI tools and MCEM alignment</a:t>
            </a:r>
            <a:endParaRPr lang="en-US" sz="2400" dirty="0"/>
          </a:p>
        </p:txBody>
      </p:sp>
      <p:sp>
        <p:nvSpPr>
          <p:cNvPr id="4" name="Text 2"/>
          <p:cNvSpPr/>
          <p:nvPr/>
        </p:nvSpPr>
        <p:spPr>
          <a:xfrm>
            <a:off x="594360" y="6547104"/>
            <a:ext cx="2743200" cy="164592"/>
          </a:xfrm>
          <a:prstGeom prst="rect">
            <a:avLst/>
          </a:prstGeom>
          <a:noFill/>
          <a:ln/>
        </p:spPr>
        <p:txBody>
          <a:bodyPr wrap="square" lIns="0" tIns="0" rIns="0" bIns="0" rtlCol="0" anchor="ctr"/>
          <a:lstStyle/>
          <a:p>
            <a:pPr indent="0" marL="0">
              <a:buNone/>
            </a:pPr>
            <a:r>
              <a:rPr lang="en-US" sz="800" dirty="0">
                <a:solidFill>
                  <a:srgbClr val="616161"/>
                </a:solidFill>
                <a:latin typeface="Aptos" pitchFamily="34" charset="0"/>
                <a:ea typeface="Aptos" pitchFamily="34" charset="-122"/>
                <a:cs typeface="Aptos" pitchFamily="34" charset="-120"/>
              </a:rPr>
              <a:t>AITO  |  Huddle</a:t>
            </a:r>
            <a:endParaRPr lang="en-US" sz="800" dirty="0"/>
          </a:p>
        </p:txBody>
      </p:sp>
      <p:sp>
        <p:nvSpPr>
          <p:cNvPr id="5" name="Shape 3"/>
          <p:cNvSpPr/>
          <p:nvPr/>
        </p:nvSpPr>
        <p:spPr>
          <a:xfrm>
            <a:off x="640080" y="1325880"/>
            <a:ext cx="10908792" cy="1298448"/>
          </a:xfrm>
          <a:prstGeom prst="roundRect">
            <a:avLst>
              <a:gd name="adj" fmla="val 4225"/>
            </a:avLst>
          </a:prstGeom>
          <a:solidFill>
            <a:srgbClr val="F5F9FF"/>
          </a:solidFill>
          <a:ln w="8890">
            <a:solidFill>
              <a:srgbClr val="D1D1D1"/>
            </a:solidFill>
            <a:prstDash val="solid"/>
          </a:ln>
        </p:spPr>
      </p:sp>
      <p:sp>
        <p:nvSpPr>
          <p:cNvPr id="6" name="Text 4"/>
          <p:cNvSpPr/>
          <p:nvPr/>
        </p:nvSpPr>
        <p:spPr>
          <a:xfrm>
            <a:off x="868680" y="1490472"/>
            <a:ext cx="10424160" cy="228600"/>
          </a:xfrm>
          <a:prstGeom prst="rect">
            <a:avLst/>
          </a:prstGeom>
          <a:noFill/>
          <a:ln/>
        </p:spPr>
        <p:txBody>
          <a:bodyPr wrap="square" lIns="0" tIns="0" rIns="0" bIns="0" rtlCol="0" anchor="ctr"/>
          <a:lstStyle/>
          <a:p>
            <a:pPr indent="0" marL="0">
              <a:buNone/>
            </a:pPr>
            <a:r>
              <a:rPr lang="en-US" sz="900" b="1" dirty="0">
                <a:solidFill>
                  <a:srgbClr val="0F6CBD"/>
                </a:solidFill>
                <a:latin typeface="Aptos" pitchFamily="34" charset="0"/>
                <a:ea typeface="Aptos" pitchFamily="34" charset="-122"/>
                <a:cs typeface="Aptos" pitchFamily="34" charset="-120"/>
              </a:rPr>
              <a:t>PRIMARY AI TOOLS</a:t>
            </a:r>
            <a:endParaRPr lang="en-US" sz="900" dirty="0"/>
          </a:p>
        </p:txBody>
      </p:sp>
      <p:sp>
        <p:nvSpPr>
          <p:cNvPr id="7" name="Text 5"/>
          <p:cNvSpPr/>
          <p:nvPr/>
        </p:nvSpPr>
        <p:spPr>
          <a:xfrm>
            <a:off x="868680" y="1801368"/>
            <a:ext cx="10378440" cy="676656"/>
          </a:xfrm>
          <a:prstGeom prst="rect">
            <a:avLst/>
          </a:prstGeom>
          <a:noFill/>
          <a:ln/>
        </p:spPr>
        <p:txBody>
          <a:bodyPr wrap="square" lIns="0" tIns="0" rIns="0" bIns="0" rtlCol="0" anchor="t">
            <a:normAutofit/>
          </a:bodyPr>
          <a:lstStyle/>
          <a:p>
            <a:pPr indent="0" marL="0">
              <a:buNone/>
            </a:pPr>
            <a:r>
              <a:rPr lang="en-US" sz="1300" dirty="0">
                <a:solidFill>
                  <a:srgbClr val="242424"/>
                </a:solidFill>
                <a:latin typeface="Aptos" pitchFamily="34" charset="0"/>
                <a:ea typeface="Aptos" pitchFamily="34" charset="-122"/>
                <a:cs typeface="Aptos" pitchFamily="34" charset="-120"/>
              </a:rPr>
              <a:t>Copilot</a:t>
            </a:r>
            <a:endParaRPr lang="en-US" sz="1300" dirty="0"/>
          </a:p>
        </p:txBody>
      </p:sp>
      <p:sp>
        <p:nvSpPr>
          <p:cNvPr id="8" name="Shape 6"/>
          <p:cNvSpPr/>
          <p:nvPr/>
        </p:nvSpPr>
        <p:spPr>
          <a:xfrm>
            <a:off x="640080" y="2834640"/>
            <a:ext cx="10908792" cy="1298448"/>
          </a:xfrm>
          <a:prstGeom prst="roundRect">
            <a:avLst>
              <a:gd name="adj" fmla="val 4225"/>
            </a:avLst>
          </a:prstGeom>
          <a:solidFill>
            <a:srgbClr val="F5F9FF"/>
          </a:solidFill>
          <a:ln w="8890">
            <a:solidFill>
              <a:srgbClr val="D1D1D1"/>
            </a:solidFill>
            <a:prstDash val="solid"/>
          </a:ln>
        </p:spPr>
      </p:sp>
      <p:sp>
        <p:nvSpPr>
          <p:cNvPr id="9" name="Text 7"/>
          <p:cNvSpPr/>
          <p:nvPr/>
        </p:nvSpPr>
        <p:spPr>
          <a:xfrm>
            <a:off x="868680" y="2999232"/>
            <a:ext cx="10424160" cy="228600"/>
          </a:xfrm>
          <a:prstGeom prst="rect">
            <a:avLst/>
          </a:prstGeom>
          <a:noFill/>
          <a:ln/>
        </p:spPr>
        <p:txBody>
          <a:bodyPr wrap="square" lIns="0" tIns="0" rIns="0" bIns="0" rtlCol="0" anchor="ctr"/>
          <a:lstStyle/>
          <a:p>
            <a:pPr indent="0" marL="0">
              <a:buNone/>
            </a:pPr>
            <a:r>
              <a:rPr lang="en-US" sz="900" b="1" dirty="0">
                <a:solidFill>
                  <a:srgbClr val="0F6CBD"/>
                </a:solidFill>
                <a:latin typeface="Aptos" pitchFamily="34" charset="0"/>
                <a:ea typeface="Aptos" pitchFamily="34" charset="-122"/>
                <a:cs typeface="Aptos" pitchFamily="34" charset="-120"/>
              </a:rPr>
              <a:t>SECONDARY AI TOOLS</a:t>
            </a:r>
            <a:endParaRPr lang="en-US" sz="900" dirty="0"/>
          </a:p>
        </p:txBody>
      </p:sp>
      <p:sp>
        <p:nvSpPr>
          <p:cNvPr id="10" name="Text 8"/>
          <p:cNvSpPr/>
          <p:nvPr/>
        </p:nvSpPr>
        <p:spPr>
          <a:xfrm>
            <a:off x="868680" y="3310128"/>
            <a:ext cx="10378440" cy="676656"/>
          </a:xfrm>
          <a:prstGeom prst="rect">
            <a:avLst/>
          </a:prstGeom>
          <a:noFill/>
          <a:ln/>
        </p:spPr>
        <p:txBody>
          <a:bodyPr wrap="square" lIns="0" tIns="0" rIns="0" bIns="0" rtlCol="0" anchor="t">
            <a:normAutofit/>
          </a:bodyPr>
          <a:lstStyle/>
          <a:p>
            <a:pPr indent="0" marL="0">
              <a:buNone/>
            </a:pPr>
            <a:r>
              <a:rPr lang="en-US" sz="1300" dirty="0">
                <a:solidFill>
                  <a:srgbClr val="242424"/>
                </a:solidFill>
                <a:latin typeface="Aptos" pitchFamily="34" charset="0"/>
                <a:ea typeface="Aptos" pitchFamily="34" charset="-122"/>
                <a:cs typeface="Aptos" pitchFamily="34" charset="-120"/>
              </a:rPr>
              <a:t>Researcher</a:t>
            </a:r>
            <a:endParaRPr lang="en-US" sz="1300" dirty="0"/>
          </a:p>
        </p:txBody>
      </p:sp>
      <p:sp>
        <p:nvSpPr>
          <p:cNvPr id="11" name="Shape 9"/>
          <p:cNvSpPr/>
          <p:nvPr/>
        </p:nvSpPr>
        <p:spPr>
          <a:xfrm>
            <a:off x="640080" y="4343400"/>
            <a:ext cx="10908792" cy="1298448"/>
          </a:xfrm>
          <a:prstGeom prst="roundRect">
            <a:avLst>
              <a:gd name="adj" fmla="val 4225"/>
            </a:avLst>
          </a:prstGeom>
          <a:solidFill>
            <a:srgbClr val="F5F9FF"/>
          </a:solidFill>
          <a:ln w="8890">
            <a:solidFill>
              <a:srgbClr val="D1D1D1"/>
            </a:solidFill>
            <a:prstDash val="solid"/>
          </a:ln>
        </p:spPr>
      </p:sp>
      <p:sp>
        <p:nvSpPr>
          <p:cNvPr id="12" name="Text 10"/>
          <p:cNvSpPr/>
          <p:nvPr/>
        </p:nvSpPr>
        <p:spPr>
          <a:xfrm>
            <a:off x="868680" y="4507992"/>
            <a:ext cx="10424160" cy="228600"/>
          </a:xfrm>
          <a:prstGeom prst="rect">
            <a:avLst/>
          </a:prstGeom>
          <a:noFill/>
          <a:ln/>
        </p:spPr>
        <p:txBody>
          <a:bodyPr wrap="square" lIns="0" tIns="0" rIns="0" bIns="0" rtlCol="0" anchor="ctr"/>
          <a:lstStyle/>
          <a:p>
            <a:pPr indent="0" marL="0">
              <a:buNone/>
            </a:pPr>
            <a:r>
              <a:rPr lang="en-US" sz="900" b="1" dirty="0">
                <a:solidFill>
                  <a:srgbClr val="0F6CBD"/>
                </a:solidFill>
                <a:latin typeface="Aptos" pitchFamily="34" charset="0"/>
                <a:ea typeface="Aptos" pitchFamily="34" charset="-122"/>
                <a:cs typeface="Aptos" pitchFamily="34" charset="-120"/>
              </a:rPr>
              <a:t>MCEM STAGES</a:t>
            </a:r>
            <a:endParaRPr lang="en-US" sz="900" dirty="0"/>
          </a:p>
        </p:txBody>
      </p:sp>
      <p:sp>
        <p:nvSpPr>
          <p:cNvPr id="13" name="Text 11"/>
          <p:cNvSpPr/>
          <p:nvPr/>
        </p:nvSpPr>
        <p:spPr>
          <a:xfrm>
            <a:off x="868680" y="4818888"/>
            <a:ext cx="10378440" cy="676656"/>
          </a:xfrm>
          <a:prstGeom prst="rect">
            <a:avLst/>
          </a:prstGeom>
          <a:noFill/>
          <a:ln/>
        </p:spPr>
        <p:txBody>
          <a:bodyPr wrap="square" lIns="0" tIns="0" rIns="0" bIns="0" rtlCol="0" anchor="t">
            <a:normAutofit/>
          </a:bodyPr>
          <a:lstStyle/>
          <a:p>
            <a:pPr indent="0" marL="0">
              <a:buNone/>
            </a:pPr>
            <a:r>
              <a:rPr lang="en-US" sz="1300" dirty="0">
                <a:solidFill>
                  <a:srgbClr val="242424"/>
                </a:solidFill>
                <a:latin typeface="Aptos" pitchFamily="34" charset="0"/>
                <a:ea typeface="Aptos" pitchFamily="34" charset="-122"/>
                <a:cs typeface="Aptos" pitchFamily="34" charset="-120"/>
              </a:rPr>
              <a:t>Inspire and Design</a:t>
            </a:r>
            <a:endParaRPr lang="en-US" sz="13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91695" cy="109728"/>
          </a:xfrm>
          <a:prstGeom prst="rect">
            <a:avLst/>
          </a:prstGeom>
          <a:solidFill>
            <a:srgbClr val="0F6CBD"/>
          </a:solidFill>
          <a:ln w="12700">
            <a:solidFill>
              <a:srgbClr val="0F6CBD"/>
            </a:solidFill>
            <a:prstDash val="solid"/>
          </a:ln>
        </p:spPr>
      </p:sp>
      <p:sp>
        <p:nvSpPr>
          <p:cNvPr id="3" name="Text 1"/>
          <p:cNvSpPr/>
          <p:nvPr/>
        </p:nvSpPr>
        <p:spPr>
          <a:xfrm>
            <a:off x="594360" y="347472"/>
            <a:ext cx="10881360" cy="438912"/>
          </a:xfrm>
          <a:prstGeom prst="rect">
            <a:avLst/>
          </a:prstGeom>
          <a:noFill/>
          <a:ln/>
        </p:spPr>
        <p:txBody>
          <a:bodyPr wrap="square" lIns="0" tIns="0" rIns="0" bIns="0" rtlCol="0" anchor="ctr">
            <a:normAutofit/>
          </a:bodyPr>
          <a:lstStyle/>
          <a:p>
            <a:pPr indent="0" marL="0">
              <a:buNone/>
            </a:pPr>
            <a:r>
              <a:rPr lang="en-US" sz="2400" b="1" dirty="0">
                <a:solidFill>
                  <a:srgbClr val="082338"/>
                </a:solidFill>
                <a:latin typeface="Aptos Display" pitchFamily="34" charset="0"/>
                <a:ea typeface="Aptos Display" pitchFamily="34" charset="-122"/>
                <a:cs typeface="Aptos Display" pitchFamily="34" charset="-120"/>
              </a:rPr>
              <a:t>Huddle flow</a:t>
            </a:r>
            <a:endParaRPr lang="en-US" sz="2400" dirty="0"/>
          </a:p>
        </p:txBody>
      </p:sp>
      <p:sp>
        <p:nvSpPr>
          <p:cNvPr id="4" name="Text 2"/>
          <p:cNvSpPr/>
          <p:nvPr/>
        </p:nvSpPr>
        <p:spPr>
          <a:xfrm>
            <a:off x="612648" y="841248"/>
            <a:ext cx="10789920" cy="274320"/>
          </a:xfrm>
          <a:prstGeom prst="rect">
            <a:avLst/>
          </a:prstGeom>
          <a:noFill/>
          <a:ln/>
        </p:spPr>
        <p:txBody>
          <a:bodyPr wrap="square" lIns="0" tIns="0" rIns="0" bIns="0" rtlCol="0" anchor="ctr">
            <a:normAutofit/>
          </a:bodyPr>
          <a:lstStyle/>
          <a:p>
            <a:pPr indent="0" marL="0">
              <a:buNone/>
            </a:pPr>
            <a:r>
              <a:rPr lang="en-US" sz="1050" dirty="0">
                <a:solidFill>
                  <a:srgbClr val="616161"/>
                </a:solidFill>
                <a:latin typeface="Aptos" pitchFamily="34" charset="0"/>
                <a:ea typeface="Aptos" pitchFamily="34" charset="-122"/>
                <a:cs typeface="Aptos" pitchFamily="34" charset="-120"/>
              </a:rPr>
              <a:t>1 phases • 1 activities</a:t>
            </a:r>
            <a:endParaRPr lang="en-US" sz="1050" dirty="0"/>
          </a:p>
        </p:txBody>
      </p:sp>
      <p:sp>
        <p:nvSpPr>
          <p:cNvPr id="5" name="Text 3"/>
          <p:cNvSpPr/>
          <p:nvPr/>
        </p:nvSpPr>
        <p:spPr>
          <a:xfrm>
            <a:off x="594360" y="6547104"/>
            <a:ext cx="2743200" cy="164592"/>
          </a:xfrm>
          <a:prstGeom prst="rect">
            <a:avLst/>
          </a:prstGeom>
          <a:noFill/>
          <a:ln/>
        </p:spPr>
        <p:txBody>
          <a:bodyPr wrap="square" lIns="0" tIns="0" rIns="0" bIns="0" rtlCol="0" anchor="ctr"/>
          <a:lstStyle/>
          <a:p>
            <a:pPr indent="0" marL="0">
              <a:buNone/>
            </a:pPr>
            <a:r>
              <a:rPr lang="en-US" sz="800" dirty="0">
                <a:solidFill>
                  <a:srgbClr val="616161"/>
                </a:solidFill>
                <a:latin typeface="Aptos" pitchFamily="34" charset="0"/>
                <a:ea typeface="Aptos" pitchFamily="34" charset="-122"/>
                <a:cs typeface="Aptos" pitchFamily="34" charset="-120"/>
              </a:rPr>
              <a:t>AITO  |  Huddle</a:t>
            </a:r>
            <a:endParaRPr lang="en-US" sz="800" dirty="0"/>
          </a:p>
        </p:txBody>
      </p:sp>
      <p:sp>
        <p:nvSpPr>
          <p:cNvPr id="6" name="Shape 4"/>
          <p:cNvSpPr/>
          <p:nvPr/>
        </p:nvSpPr>
        <p:spPr>
          <a:xfrm>
            <a:off x="731520" y="1325880"/>
            <a:ext cx="502920" cy="502920"/>
          </a:xfrm>
          <a:prstGeom prst="ellipse">
            <a:avLst/>
          </a:prstGeom>
          <a:solidFill>
            <a:srgbClr val="0F6CBD"/>
          </a:solidFill>
          <a:ln w="12700">
            <a:solidFill>
              <a:srgbClr val="0F6CBD"/>
            </a:solidFill>
            <a:prstDash val="solid"/>
          </a:ln>
        </p:spPr>
      </p:sp>
      <p:sp>
        <p:nvSpPr>
          <p:cNvPr id="7" name="Text 5"/>
          <p:cNvSpPr/>
          <p:nvPr/>
        </p:nvSpPr>
        <p:spPr>
          <a:xfrm>
            <a:off x="731520" y="1399032"/>
            <a:ext cx="502920" cy="219456"/>
          </a:xfrm>
          <a:prstGeom prst="rect">
            <a:avLst/>
          </a:prstGeom>
          <a:noFill/>
          <a:ln/>
        </p:spPr>
        <p:txBody>
          <a:bodyPr wrap="square" lIns="0" tIns="0" rIns="0" bIns="0" rtlCol="0" anchor="ctr"/>
          <a:lstStyle/>
          <a:p>
            <a:pPr algn="ctr" indent="0" marL="0">
              <a:buNone/>
            </a:pPr>
            <a:r>
              <a:rPr lang="en-US" sz="1200" b="1" dirty="0">
                <a:solidFill>
                  <a:srgbClr val="FFFFFF"/>
                </a:solidFill>
              </a:rPr>
              <a:t>1</a:t>
            </a:r>
            <a:endParaRPr lang="en-US" sz="1200" dirty="0"/>
          </a:p>
        </p:txBody>
      </p:sp>
      <p:sp>
        <p:nvSpPr>
          <p:cNvPr id="8" name="Text 6"/>
          <p:cNvSpPr/>
          <p:nvPr/>
        </p:nvSpPr>
        <p:spPr>
          <a:xfrm>
            <a:off x="1444752" y="1307592"/>
            <a:ext cx="4846320" cy="292608"/>
          </a:xfrm>
          <a:prstGeom prst="rect">
            <a:avLst/>
          </a:prstGeom>
          <a:noFill/>
          <a:ln/>
        </p:spPr>
        <p:txBody>
          <a:bodyPr wrap="square" lIns="0" tIns="0" rIns="0" bIns="0" rtlCol="0" anchor="ctr">
            <a:normAutofit/>
          </a:bodyPr>
          <a:lstStyle/>
          <a:p>
            <a:pPr indent="0" marL="0">
              <a:buNone/>
            </a:pPr>
            <a:r>
              <a:rPr lang="en-US" sz="1600" b="1" dirty="0">
                <a:solidFill>
                  <a:srgbClr val="242424"/>
                </a:solidFill>
              </a:rPr>
              <a:t>Preparation</a:t>
            </a:r>
            <a:endParaRPr lang="en-US" sz="1600" dirty="0"/>
          </a:p>
        </p:txBody>
      </p:sp>
      <p:sp>
        <p:nvSpPr>
          <p:cNvPr id="9" name="Text 7"/>
          <p:cNvSpPr/>
          <p:nvPr/>
        </p:nvSpPr>
        <p:spPr>
          <a:xfrm>
            <a:off x="1444752" y="1636776"/>
            <a:ext cx="4846320" cy="219456"/>
          </a:xfrm>
          <a:prstGeom prst="rect">
            <a:avLst/>
          </a:prstGeom>
          <a:noFill/>
          <a:ln/>
        </p:spPr>
        <p:txBody>
          <a:bodyPr wrap="square" lIns="0" tIns="0" rIns="0" bIns="0" rtlCol="0" anchor="ctr"/>
          <a:lstStyle/>
          <a:p>
            <a:pPr indent="0" marL="0">
              <a:buNone/>
            </a:pPr>
            <a:r>
              <a:rPr lang="en-US" sz="1000" dirty="0">
                <a:solidFill>
                  <a:srgbClr val="616161"/>
                </a:solidFill>
              </a:rPr>
              <a:t>1 activities • 10 min</a:t>
            </a:r>
            <a:endParaRPr lang="en-US" sz="10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5F9FF"/>
        </a:solidFill>
      </p:bgPr>
    </p:bg>
    <p:spTree>
      <p:nvGrpSpPr>
        <p:cNvPr id="1" name=""/>
        <p:cNvGrpSpPr/>
        <p:nvPr/>
      </p:nvGrpSpPr>
      <p:grpSpPr>
        <a:xfrm>
          <a:off x="0" y="0"/>
          <a:ext cx="0" cy="0"/>
          <a:chOff x="0" y="0"/>
          <a:chExt cx="0" cy="0"/>
        </a:xfrm>
      </p:grpSpPr>
      <p:sp>
        <p:nvSpPr>
          <p:cNvPr id="2" name="Text 0"/>
          <p:cNvSpPr/>
          <p:nvPr/>
        </p:nvSpPr>
        <p:spPr>
          <a:xfrm>
            <a:off x="777240" y="1005840"/>
            <a:ext cx="2286000" cy="274320"/>
          </a:xfrm>
          <a:prstGeom prst="rect">
            <a:avLst/>
          </a:prstGeom>
          <a:noFill/>
          <a:ln/>
        </p:spPr>
        <p:txBody>
          <a:bodyPr wrap="square" lIns="0" tIns="0" rIns="0" bIns="0" rtlCol="0" anchor="ctr"/>
          <a:lstStyle/>
          <a:p>
            <a:pPr indent="0" marL="0">
              <a:buNone/>
            </a:pPr>
            <a:r>
              <a:rPr lang="en-US" sz="1200" b="1" spc="200" kern="0" dirty="0">
                <a:solidFill>
                  <a:srgbClr val="0F6CBD"/>
                </a:solidFill>
              </a:rPr>
              <a:t>PHASE 1</a:t>
            </a:r>
            <a:endParaRPr lang="en-US" sz="1200" dirty="0"/>
          </a:p>
        </p:txBody>
      </p:sp>
      <p:sp>
        <p:nvSpPr>
          <p:cNvPr id="3" name="Text 1"/>
          <p:cNvSpPr/>
          <p:nvPr/>
        </p:nvSpPr>
        <p:spPr>
          <a:xfrm>
            <a:off x="777240" y="1508760"/>
            <a:ext cx="10149840" cy="1097280"/>
          </a:xfrm>
          <a:prstGeom prst="rect">
            <a:avLst/>
          </a:prstGeom>
          <a:noFill/>
          <a:ln/>
        </p:spPr>
        <p:txBody>
          <a:bodyPr wrap="square" lIns="0" tIns="0" rIns="0" bIns="0" rtlCol="0" anchor="ctr">
            <a:normAutofit/>
          </a:bodyPr>
          <a:lstStyle/>
          <a:p>
            <a:pPr indent="0" marL="0">
              <a:buNone/>
            </a:pPr>
            <a:r>
              <a:rPr lang="en-US" sz="3100" b="1" dirty="0">
                <a:solidFill>
                  <a:srgbClr val="082338"/>
                </a:solidFill>
              </a:rPr>
              <a:t>Preparation</a:t>
            </a:r>
            <a:endParaRPr lang="en-US" sz="3100" dirty="0"/>
          </a:p>
        </p:txBody>
      </p:sp>
      <p:sp>
        <p:nvSpPr>
          <p:cNvPr id="4" name="Text 2"/>
          <p:cNvSpPr/>
          <p:nvPr/>
        </p:nvSpPr>
        <p:spPr>
          <a:xfrm>
            <a:off x="804672" y="2788920"/>
            <a:ext cx="9875520" cy="1005840"/>
          </a:xfrm>
          <a:prstGeom prst="rect">
            <a:avLst/>
          </a:prstGeom>
          <a:noFill/>
          <a:ln/>
        </p:spPr>
        <p:txBody>
          <a:bodyPr wrap="square" lIns="0" tIns="0" rIns="0" bIns="0" rtlCol="0" anchor="ctr">
            <a:normAutofit/>
          </a:bodyPr>
          <a:lstStyle/>
          <a:p>
            <a:pPr indent="0" marL="0">
              <a:buNone/>
            </a:pPr>
            <a:r>
              <a:rPr lang="en-US" sz="1700" dirty="0">
                <a:solidFill>
                  <a:srgbClr val="616161"/>
                </a:solidFill>
              </a:rPr>
              <a:t>Ground the Huddle in current evidence.</a:t>
            </a:r>
            <a:endParaRPr lang="en-US" sz="1700" dirty="0"/>
          </a:p>
        </p:txBody>
      </p:sp>
      <p:sp>
        <p:nvSpPr>
          <p:cNvPr id="5" name="Text 3"/>
          <p:cNvSpPr/>
          <p:nvPr/>
        </p:nvSpPr>
        <p:spPr>
          <a:xfrm>
            <a:off x="804672" y="5029200"/>
            <a:ext cx="4572000" cy="365760"/>
          </a:xfrm>
          <a:prstGeom prst="rect">
            <a:avLst/>
          </a:prstGeom>
          <a:noFill/>
          <a:ln/>
        </p:spPr>
        <p:txBody>
          <a:bodyPr wrap="square" lIns="0" tIns="0" rIns="0" bIns="0" rtlCol="0" anchor="ctr"/>
          <a:lstStyle/>
          <a:p>
            <a:pPr indent="0" marL="0">
              <a:buNone/>
            </a:pPr>
            <a:r>
              <a:rPr lang="en-US" sz="1400" b="1" dirty="0">
                <a:solidFill>
                  <a:srgbClr val="0F6CBD"/>
                </a:solidFill>
              </a:rPr>
              <a:t>1 activities  •  10 minutes</a:t>
            </a:r>
            <a:endParaRPr lang="en-US" sz="14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91695" cy="109728"/>
          </a:xfrm>
          <a:prstGeom prst="rect">
            <a:avLst/>
          </a:prstGeom>
          <a:solidFill>
            <a:srgbClr val="0F6CBD"/>
          </a:solidFill>
          <a:ln w="12700">
            <a:solidFill>
              <a:srgbClr val="0F6CBD"/>
            </a:solidFill>
            <a:prstDash val="solid"/>
          </a:ln>
        </p:spPr>
      </p:sp>
      <p:sp>
        <p:nvSpPr>
          <p:cNvPr id="3" name="Text 1"/>
          <p:cNvSpPr/>
          <p:nvPr/>
        </p:nvSpPr>
        <p:spPr>
          <a:xfrm>
            <a:off x="594360" y="347472"/>
            <a:ext cx="10881360" cy="438912"/>
          </a:xfrm>
          <a:prstGeom prst="rect">
            <a:avLst/>
          </a:prstGeom>
          <a:noFill/>
          <a:ln/>
        </p:spPr>
        <p:txBody>
          <a:bodyPr wrap="square" lIns="0" tIns="0" rIns="0" bIns="0" rtlCol="0" anchor="ctr">
            <a:normAutofit/>
          </a:bodyPr>
          <a:lstStyle/>
          <a:p>
            <a:pPr indent="0" marL="0">
              <a:buNone/>
            </a:pPr>
            <a:r>
              <a:rPr lang="en-US" sz="2400" b="1" dirty="0">
                <a:solidFill>
                  <a:srgbClr val="082338"/>
                </a:solidFill>
                <a:latin typeface="Aptos Display" pitchFamily="34" charset="0"/>
                <a:ea typeface="Aptos Display" pitchFamily="34" charset="-122"/>
                <a:cs typeface="Aptos Display" pitchFamily="34" charset="-120"/>
              </a:rPr>
              <a:t>1. Create a deal inspection</a:t>
            </a:r>
            <a:endParaRPr lang="en-US" sz="2400" dirty="0"/>
          </a:p>
        </p:txBody>
      </p:sp>
      <p:sp>
        <p:nvSpPr>
          <p:cNvPr id="4" name="Text 2"/>
          <p:cNvSpPr/>
          <p:nvPr/>
        </p:nvSpPr>
        <p:spPr>
          <a:xfrm>
            <a:off x="612648" y="841248"/>
            <a:ext cx="10789920" cy="274320"/>
          </a:xfrm>
          <a:prstGeom prst="rect">
            <a:avLst/>
          </a:prstGeom>
          <a:noFill/>
          <a:ln/>
        </p:spPr>
        <p:txBody>
          <a:bodyPr wrap="square" lIns="0" tIns="0" rIns="0" bIns="0" rtlCol="0" anchor="ctr">
            <a:normAutofit/>
          </a:bodyPr>
          <a:lstStyle/>
          <a:p>
            <a:pPr indent="0" marL="0">
              <a:buNone/>
            </a:pPr>
            <a:r>
              <a:rPr lang="en-US" sz="1050" dirty="0">
                <a:solidFill>
                  <a:srgbClr val="616161"/>
                </a:solidFill>
                <a:latin typeface="Aptos" pitchFamily="34" charset="0"/>
                <a:ea typeface="Aptos" pitchFamily="34" charset="-122"/>
                <a:cs typeface="Aptos" pitchFamily="34" charset="-120"/>
              </a:rPr>
              <a:t>Preparation</a:t>
            </a:r>
            <a:endParaRPr lang="en-US" sz="1050" dirty="0"/>
          </a:p>
        </p:txBody>
      </p:sp>
      <p:sp>
        <p:nvSpPr>
          <p:cNvPr id="5" name="Text 3"/>
          <p:cNvSpPr/>
          <p:nvPr/>
        </p:nvSpPr>
        <p:spPr>
          <a:xfrm>
            <a:off x="594360" y="6547104"/>
            <a:ext cx="2743200" cy="164592"/>
          </a:xfrm>
          <a:prstGeom prst="rect">
            <a:avLst/>
          </a:prstGeom>
          <a:noFill/>
          <a:ln/>
        </p:spPr>
        <p:txBody>
          <a:bodyPr wrap="square" lIns="0" tIns="0" rIns="0" bIns="0" rtlCol="0" anchor="ctr"/>
          <a:lstStyle/>
          <a:p>
            <a:pPr indent="0" marL="0">
              <a:buNone/>
            </a:pPr>
            <a:r>
              <a:rPr lang="en-US" sz="800" dirty="0">
                <a:solidFill>
                  <a:srgbClr val="616161"/>
                </a:solidFill>
                <a:latin typeface="Aptos" pitchFamily="34" charset="0"/>
                <a:ea typeface="Aptos" pitchFamily="34" charset="-122"/>
                <a:cs typeface="Aptos" pitchFamily="34" charset="-120"/>
              </a:rPr>
              <a:t>AITO  |  Huddle</a:t>
            </a:r>
            <a:endParaRPr lang="en-US" sz="800" dirty="0"/>
          </a:p>
        </p:txBody>
      </p:sp>
      <p:sp>
        <p:nvSpPr>
          <p:cNvPr id="6" name="Shape 4"/>
          <p:cNvSpPr/>
          <p:nvPr/>
        </p:nvSpPr>
        <p:spPr>
          <a:xfrm>
            <a:off x="640080" y="1234440"/>
            <a:ext cx="10908792" cy="1554480"/>
          </a:xfrm>
          <a:prstGeom prst="roundRect">
            <a:avLst>
              <a:gd name="adj" fmla="val 3529"/>
            </a:avLst>
          </a:prstGeom>
          <a:solidFill>
            <a:srgbClr val="F5F9FF"/>
          </a:solidFill>
          <a:ln w="8890">
            <a:solidFill>
              <a:srgbClr val="D1D1D1"/>
            </a:solidFill>
            <a:prstDash val="solid"/>
          </a:ln>
        </p:spPr>
      </p:sp>
      <p:sp>
        <p:nvSpPr>
          <p:cNvPr id="7" name="Text 5"/>
          <p:cNvSpPr/>
          <p:nvPr/>
        </p:nvSpPr>
        <p:spPr>
          <a:xfrm>
            <a:off x="868680" y="1399032"/>
            <a:ext cx="10424160" cy="228600"/>
          </a:xfrm>
          <a:prstGeom prst="rect">
            <a:avLst/>
          </a:prstGeom>
          <a:noFill/>
          <a:ln/>
        </p:spPr>
        <p:txBody>
          <a:bodyPr wrap="square" lIns="0" tIns="0" rIns="0" bIns="0" rtlCol="0" anchor="ctr"/>
          <a:lstStyle/>
          <a:p>
            <a:pPr indent="0" marL="0">
              <a:buNone/>
            </a:pPr>
            <a:r>
              <a:rPr lang="en-US" sz="900" b="1" dirty="0">
                <a:solidFill>
                  <a:srgbClr val="0F6CBD"/>
                </a:solidFill>
                <a:latin typeface="Aptos" pitchFamily="34" charset="0"/>
                <a:ea typeface="Aptos" pitchFamily="34" charset="-122"/>
                <a:cs typeface="Aptos" pitchFamily="34" charset="-120"/>
              </a:rPr>
              <a:t>DESCRIPTION</a:t>
            </a:r>
            <a:endParaRPr lang="en-US" sz="900" dirty="0"/>
          </a:p>
        </p:txBody>
      </p:sp>
      <p:sp>
        <p:nvSpPr>
          <p:cNvPr id="8" name="Text 6"/>
          <p:cNvSpPr/>
          <p:nvPr/>
        </p:nvSpPr>
        <p:spPr>
          <a:xfrm>
            <a:off x="868680" y="1709928"/>
            <a:ext cx="10378440" cy="932688"/>
          </a:xfrm>
          <a:prstGeom prst="rect">
            <a:avLst/>
          </a:prstGeom>
          <a:noFill/>
          <a:ln/>
        </p:spPr>
        <p:txBody>
          <a:bodyPr wrap="square" lIns="0" tIns="0" rIns="0" bIns="0" rtlCol="0" anchor="t">
            <a:normAutofit/>
          </a:bodyPr>
          <a:lstStyle/>
          <a:p>
            <a:pPr indent="0" marL="0">
              <a:buNone/>
            </a:pPr>
            <a:r>
              <a:rPr lang="en-US" sz="1300" dirty="0">
                <a:solidFill>
                  <a:srgbClr val="242424"/>
                </a:solidFill>
                <a:latin typeface="Aptos" pitchFamily="34" charset="0"/>
                <a:ea typeface="Aptos" pitchFamily="34" charset="-122"/>
                <a:cs typeface="Aptos" pitchFamily="34" charset="-120"/>
              </a:rPr>
              <a:t>Review the current opportunity.</a:t>
            </a:r>
            <a:endParaRPr lang="en-US" sz="13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91695" cy="109728"/>
          </a:xfrm>
          <a:prstGeom prst="rect">
            <a:avLst/>
          </a:prstGeom>
          <a:solidFill>
            <a:srgbClr val="0F6CBD"/>
          </a:solidFill>
          <a:ln w="12700">
            <a:solidFill>
              <a:srgbClr val="0F6CBD"/>
            </a:solidFill>
            <a:prstDash val="solid"/>
          </a:ln>
        </p:spPr>
      </p:sp>
      <p:sp>
        <p:nvSpPr>
          <p:cNvPr id="3" name="Text 1"/>
          <p:cNvSpPr/>
          <p:nvPr/>
        </p:nvSpPr>
        <p:spPr>
          <a:xfrm>
            <a:off x="594360" y="347472"/>
            <a:ext cx="10881360" cy="438912"/>
          </a:xfrm>
          <a:prstGeom prst="rect">
            <a:avLst/>
          </a:prstGeom>
          <a:noFill/>
          <a:ln/>
        </p:spPr>
        <p:txBody>
          <a:bodyPr wrap="square" lIns="0" tIns="0" rIns="0" bIns="0" rtlCol="0" anchor="ctr">
            <a:normAutofit/>
          </a:bodyPr>
          <a:lstStyle/>
          <a:p>
            <a:pPr indent="0" marL="0">
              <a:buNone/>
            </a:pPr>
            <a:r>
              <a:rPr lang="en-US" sz="2400" b="1" dirty="0">
                <a:solidFill>
                  <a:srgbClr val="082338"/>
                </a:solidFill>
                <a:latin typeface="Aptos Display" pitchFamily="34" charset="0"/>
                <a:ea typeface="Aptos Display" pitchFamily="34" charset="-122"/>
                <a:cs typeface="Aptos Display" pitchFamily="34" charset="-120"/>
              </a:rPr>
              <a:t>1. Create a deal inspection</a:t>
            </a:r>
            <a:endParaRPr lang="en-US" sz="2400" dirty="0"/>
          </a:p>
        </p:txBody>
      </p:sp>
      <p:sp>
        <p:nvSpPr>
          <p:cNvPr id="4" name="Text 2"/>
          <p:cNvSpPr/>
          <p:nvPr/>
        </p:nvSpPr>
        <p:spPr>
          <a:xfrm>
            <a:off x="612648" y="841248"/>
            <a:ext cx="10789920" cy="274320"/>
          </a:xfrm>
          <a:prstGeom prst="rect">
            <a:avLst/>
          </a:prstGeom>
          <a:noFill/>
          <a:ln/>
        </p:spPr>
        <p:txBody>
          <a:bodyPr wrap="square" lIns="0" tIns="0" rIns="0" bIns="0" rtlCol="0" anchor="ctr">
            <a:normAutofit/>
          </a:bodyPr>
          <a:lstStyle/>
          <a:p>
            <a:pPr indent="0" marL="0">
              <a:buNone/>
            </a:pPr>
            <a:r>
              <a:rPr lang="en-US" sz="1050" dirty="0">
                <a:solidFill>
                  <a:srgbClr val="616161"/>
                </a:solidFill>
                <a:latin typeface="Aptos" pitchFamily="34" charset="0"/>
                <a:ea typeface="Aptos" pitchFamily="34" charset="-122"/>
                <a:cs typeface="Aptos" pitchFamily="34" charset="-120"/>
              </a:rPr>
              <a:t>Preparation</a:t>
            </a:r>
            <a:endParaRPr lang="en-US" sz="1050" dirty="0"/>
          </a:p>
        </p:txBody>
      </p:sp>
      <p:sp>
        <p:nvSpPr>
          <p:cNvPr id="5" name="Text 3"/>
          <p:cNvSpPr/>
          <p:nvPr/>
        </p:nvSpPr>
        <p:spPr>
          <a:xfrm>
            <a:off x="594360" y="6547104"/>
            <a:ext cx="2743200" cy="164592"/>
          </a:xfrm>
          <a:prstGeom prst="rect">
            <a:avLst/>
          </a:prstGeom>
          <a:noFill/>
          <a:ln/>
        </p:spPr>
        <p:txBody>
          <a:bodyPr wrap="square" lIns="0" tIns="0" rIns="0" bIns="0" rtlCol="0" anchor="ctr"/>
          <a:lstStyle/>
          <a:p>
            <a:pPr indent="0" marL="0">
              <a:buNone/>
            </a:pPr>
            <a:r>
              <a:rPr lang="en-US" sz="800" dirty="0">
                <a:solidFill>
                  <a:srgbClr val="616161"/>
                </a:solidFill>
                <a:latin typeface="Aptos" pitchFamily="34" charset="0"/>
                <a:ea typeface="Aptos" pitchFamily="34" charset="-122"/>
                <a:cs typeface="Aptos" pitchFamily="34" charset="-120"/>
              </a:rPr>
              <a:t>AITO  |  Huddle</a:t>
            </a:r>
            <a:endParaRPr lang="en-US" sz="800" dirty="0"/>
          </a:p>
        </p:txBody>
      </p:sp>
      <p:sp>
        <p:nvSpPr>
          <p:cNvPr id="6" name="Shape 4"/>
          <p:cNvSpPr/>
          <p:nvPr/>
        </p:nvSpPr>
        <p:spPr>
          <a:xfrm>
            <a:off x="640080" y="1234440"/>
            <a:ext cx="10908792" cy="1554480"/>
          </a:xfrm>
          <a:prstGeom prst="roundRect">
            <a:avLst>
              <a:gd name="adj" fmla="val 3529"/>
            </a:avLst>
          </a:prstGeom>
          <a:solidFill>
            <a:srgbClr val="F5F9FF"/>
          </a:solidFill>
          <a:ln w="8890">
            <a:solidFill>
              <a:srgbClr val="D1D1D1"/>
            </a:solidFill>
            <a:prstDash val="solid"/>
          </a:ln>
        </p:spPr>
      </p:sp>
      <p:sp>
        <p:nvSpPr>
          <p:cNvPr id="7" name="Text 5"/>
          <p:cNvSpPr/>
          <p:nvPr/>
        </p:nvSpPr>
        <p:spPr>
          <a:xfrm>
            <a:off x="868680" y="1399032"/>
            <a:ext cx="10424160" cy="228600"/>
          </a:xfrm>
          <a:prstGeom prst="rect">
            <a:avLst/>
          </a:prstGeom>
          <a:noFill/>
          <a:ln/>
        </p:spPr>
        <p:txBody>
          <a:bodyPr wrap="square" lIns="0" tIns="0" rIns="0" bIns="0" rtlCol="0" anchor="ctr"/>
          <a:lstStyle/>
          <a:p>
            <a:pPr indent="0" marL="0">
              <a:buNone/>
            </a:pPr>
            <a:r>
              <a:rPr lang="en-US" sz="900" b="1" dirty="0">
                <a:solidFill>
                  <a:srgbClr val="0F6CBD"/>
                </a:solidFill>
                <a:latin typeface="Aptos" pitchFamily="34" charset="0"/>
                <a:ea typeface="Aptos" pitchFamily="34" charset="-122"/>
                <a:cs typeface="Aptos" pitchFamily="34" charset="-120"/>
              </a:rPr>
              <a:t>PROMPT</a:t>
            </a:r>
            <a:endParaRPr lang="en-US" sz="900" dirty="0"/>
          </a:p>
        </p:txBody>
      </p:sp>
      <p:sp>
        <p:nvSpPr>
          <p:cNvPr id="8" name="Text 6"/>
          <p:cNvSpPr/>
          <p:nvPr/>
        </p:nvSpPr>
        <p:spPr>
          <a:xfrm>
            <a:off x="868680" y="1709928"/>
            <a:ext cx="10378440" cy="932688"/>
          </a:xfrm>
          <a:prstGeom prst="rect">
            <a:avLst/>
          </a:prstGeom>
          <a:noFill/>
          <a:ln/>
        </p:spPr>
        <p:txBody>
          <a:bodyPr wrap="square" lIns="0" tIns="0" rIns="0" bIns="0" rtlCol="0" anchor="t">
            <a:normAutofit/>
          </a:bodyPr>
          <a:lstStyle/>
          <a:p>
            <a:pPr indent="0" marL="0">
              <a:buNone/>
            </a:pPr>
            <a:r>
              <a:rPr lang="en-US" sz="1300" dirty="0">
                <a:solidFill>
                  <a:srgbClr val="242424"/>
                </a:solidFill>
                <a:latin typeface="Aptos" pitchFamily="34" charset="0"/>
                <a:ea typeface="Aptos" pitchFamily="34" charset="-122"/>
                <a:cs typeface="Aptos" pitchFamily="34" charset="-120"/>
              </a:rPr>
              <a:t>Analyze the opportunity evidence, identify unsupported assumptions, propose mitigations, and clearly separate verified facts from hypotheses. Analyze the opportunity evidence, identify unsupported assumptions, propose mitigations, and clearly separate verified facts from hypotheses. Analyze the opportunity evidence, identify unsupported assumptions, propose mitigations, and clearly separate verified facts from hypotheses. Analyze the opportunity evidence, identify unsupported assumptions, propose mitigations, and clearly separate verified facts from hypotheses. Analyze the opportunity evidence, identify unsupported assumptions, propose mitigations, and clearly separate verified facts from hypotheses. Analyze the opportunity evidence, identify unsupported assumptions, propose mitigations, and clearly separate verified facts from hypotheses. Analyze the opportunity evidence, identify</a:t>
            </a:r>
            <a:endParaRPr lang="en-US" sz="13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91695" cy="109728"/>
          </a:xfrm>
          <a:prstGeom prst="rect">
            <a:avLst/>
          </a:prstGeom>
          <a:solidFill>
            <a:srgbClr val="0F6CBD"/>
          </a:solidFill>
          <a:ln w="12700">
            <a:solidFill>
              <a:srgbClr val="0F6CBD"/>
            </a:solidFill>
            <a:prstDash val="solid"/>
          </a:ln>
        </p:spPr>
      </p:sp>
      <p:sp>
        <p:nvSpPr>
          <p:cNvPr id="3" name="Text 1"/>
          <p:cNvSpPr/>
          <p:nvPr/>
        </p:nvSpPr>
        <p:spPr>
          <a:xfrm>
            <a:off x="594360" y="347472"/>
            <a:ext cx="10881360" cy="438912"/>
          </a:xfrm>
          <a:prstGeom prst="rect">
            <a:avLst/>
          </a:prstGeom>
          <a:noFill/>
          <a:ln/>
        </p:spPr>
        <p:txBody>
          <a:bodyPr wrap="square" lIns="0" tIns="0" rIns="0" bIns="0" rtlCol="0" anchor="ctr">
            <a:normAutofit/>
          </a:bodyPr>
          <a:lstStyle/>
          <a:p>
            <a:pPr indent="0" marL="0">
              <a:buNone/>
            </a:pPr>
            <a:r>
              <a:rPr lang="en-US" sz="2400" b="1" dirty="0">
                <a:solidFill>
                  <a:srgbClr val="082338"/>
                </a:solidFill>
                <a:latin typeface="Aptos Display" pitchFamily="34" charset="0"/>
                <a:ea typeface="Aptos Display" pitchFamily="34" charset="-122"/>
                <a:cs typeface="Aptos Display" pitchFamily="34" charset="-120"/>
              </a:rPr>
              <a:t>1. Create a deal inspection</a:t>
            </a:r>
            <a:endParaRPr lang="en-US" sz="2400" dirty="0"/>
          </a:p>
        </p:txBody>
      </p:sp>
      <p:sp>
        <p:nvSpPr>
          <p:cNvPr id="4" name="Text 2"/>
          <p:cNvSpPr/>
          <p:nvPr/>
        </p:nvSpPr>
        <p:spPr>
          <a:xfrm>
            <a:off x="612648" y="841248"/>
            <a:ext cx="10789920" cy="274320"/>
          </a:xfrm>
          <a:prstGeom prst="rect">
            <a:avLst/>
          </a:prstGeom>
          <a:noFill/>
          <a:ln/>
        </p:spPr>
        <p:txBody>
          <a:bodyPr wrap="square" lIns="0" tIns="0" rIns="0" bIns="0" rtlCol="0" anchor="ctr">
            <a:normAutofit/>
          </a:bodyPr>
          <a:lstStyle/>
          <a:p>
            <a:pPr indent="0" marL="0">
              <a:buNone/>
            </a:pPr>
            <a:r>
              <a:rPr lang="en-US" sz="1050" dirty="0">
                <a:solidFill>
                  <a:srgbClr val="616161"/>
                </a:solidFill>
                <a:latin typeface="Aptos" pitchFamily="34" charset="0"/>
                <a:ea typeface="Aptos" pitchFamily="34" charset="-122"/>
                <a:cs typeface="Aptos" pitchFamily="34" charset="-120"/>
              </a:rPr>
              <a:t>Preparation</a:t>
            </a:r>
            <a:endParaRPr lang="en-US" sz="1050" dirty="0"/>
          </a:p>
        </p:txBody>
      </p:sp>
      <p:sp>
        <p:nvSpPr>
          <p:cNvPr id="5" name="Text 3"/>
          <p:cNvSpPr/>
          <p:nvPr/>
        </p:nvSpPr>
        <p:spPr>
          <a:xfrm>
            <a:off x="594360" y="6547104"/>
            <a:ext cx="2743200" cy="164592"/>
          </a:xfrm>
          <a:prstGeom prst="rect">
            <a:avLst/>
          </a:prstGeom>
          <a:noFill/>
          <a:ln/>
        </p:spPr>
        <p:txBody>
          <a:bodyPr wrap="square" lIns="0" tIns="0" rIns="0" bIns="0" rtlCol="0" anchor="ctr"/>
          <a:lstStyle/>
          <a:p>
            <a:pPr indent="0" marL="0">
              <a:buNone/>
            </a:pPr>
            <a:r>
              <a:rPr lang="en-US" sz="800" dirty="0">
                <a:solidFill>
                  <a:srgbClr val="616161"/>
                </a:solidFill>
                <a:latin typeface="Aptos" pitchFamily="34" charset="0"/>
                <a:ea typeface="Aptos" pitchFamily="34" charset="-122"/>
                <a:cs typeface="Aptos" pitchFamily="34" charset="-120"/>
              </a:rPr>
              <a:t>AITO  |  Huddle</a:t>
            </a:r>
            <a:endParaRPr lang="en-US" sz="800" dirty="0"/>
          </a:p>
        </p:txBody>
      </p:sp>
      <p:sp>
        <p:nvSpPr>
          <p:cNvPr id="6" name="Shape 4"/>
          <p:cNvSpPr/>
          <p:nvPr/>
        </p:nvSpPr>
        <p:spPr>
          <a:xfrm>
            <a:off x="640080" y="1234440"/>
            <a:ext cx="10908792" cy="1554480"/>
          </a:xfrm>
          <a:prstGeom prst="roundRect">
            <a:avLst>
              <a:gd name="adj" fmla="val 3529"/>
            </a:avLst>
          </a:prstGeom>
          <a:solidFill>
            <a:srgbClr val="F5F9FF"/>
          </a:solidFill>
          <a:ln w="8890">
            <a:solidFill>
              <a:srgbClr val="D1D1D1"/>
            </a:solidFill>
            <a:prstDash val="solid"/>
          </a:ln>
        </p:spPr>
      </p:sp>
      <p:sp>
        <p:nvSpPr>
          <p:cNvPr id="7" name="Text 5"/>
          <p:cNvSpPr/>
          <p:nvPr/>
        </p:nvSpPr>
        <p:spPr>
          <a:xfrm>
            <a:off x="868680" y="1399032"/>
            <a:ext cx="10424160" cy="228600"/>
          </a:xfrm>
          <a:prstGeom prst="rect">
            <a:avLst/>
          </a:prstGeom>
          <a:noFill/>
          <a:ln/>
        </p:spPr>
        <p:txBody>
          <a:bodyPr wrap="square" lIns="0" tIns="0" rIns="0" bIns="0" rtlCol="0" anchor="ctr"/>
          <a:lstStyle/>
          <a:p>
            <a:pPr indent="0" marL="0">
              <a:buNone/>
            </a:pPr>
            <a:r>
              <a:rPr lang="en-US" sz="900" b="1" dirty="0">
                <a:solidFill>
                  <a:srgbClr val="0F6CBD"/>
                </a:solidFill>
                <a:latin typeface="Aptos" pitchFamily="34" charset="0"/>
                <a:ea typeface="Aptos" pitchFamily="34" charset="-122"/>
                <a:cs typeface="Aptos" pitchFamily="34" charset="-120"/>
              </a:rPr>
              <a:t>PROMPT (CONTINUED)</a:t>
            </a:r>
            <a:endParaRPr lang="en-US" sz="900" dirty="0"/>
          </a:p>
        </p:txBody>
      </p:sp>
      <p:sp>
        <p:nvSpPr>
          <p:cNvPr id="8" name="Text 6"/>
          <p:cNvSpPr/>
          <p:nvPr/>
        </p:nvSpPr>
        <p:spPr>
          <a:xfrm>
            <a:off x="868680" y="1709928"/>
            <a:ext cx="10378440" cy="932688"/>
          </a:xfrm>
          <a:prstGeom prst="rect">
            <a:avLst/>
          </a:prstGeom>
          <a:noFill/>
          <a:ln/>
        </p:spPr>
        <p:txBody>
          <a:bodyPr wrap="square" lIns="0" tIns="0" rIns="0" bIns="0" rtlCol="0" anchor="t">
            <a:normAutofit/>
          </a:bodyPr>
          <a:lstStyle/>
          <a:p>
            <a:pPr indent="0" marL="0">
              <a:buNone/>
            </a:pPr>
            <a:r>
              <a:rPr lang="en-US" sz="1300" dirty="0">
                <a:solidFill>
                  <a:srgbClr val="242424"/>
                </a:solidFill>
                <a:latin typeface="Aptos" pitchFamily="34" charset="0"/>
                <a:ea typeface="Aptos" pitchFamily="34" charset="-122"/>
                <a:cs typeface="Aptos" pitchFamily="34" charset="-120"/>
              </a:rPr>
              <a:t>unsupported assumptions, propose mitigations, and clearly separate verified facts from hypotheses. Analyze the opportunity evidence, identify unsupported assumptions, propose mitigations, and clearly separate verified facts from hypotheses. Analyze the opportunity evidence, identify unsupported assumptions, propose mitigations, and clearly separate verified facts from hypotheses. Analyze the opportunity evidence, identify unsupported assumptions, propose mitigations, and clearly separate verified facts from hypotheses. Analyze the opportunity evidence, identify unsupported assumptions, propose mitigations, and clearly separate verified facts from hypotheses. Analyze the opportunity evidence, identify unsupported assumptions, propose mitigations, and clearly separate verified facts from hypotheses. Analyze the opportunity evidence, identify unsupported assumptions, propose mitigations,</a:t>
            </a:r>
            <a:endParaRPr lang="en-US" sz="13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91695" cy="109728"/>
          </a:xfrm>
          <a:prstGeom prst="rect">
            <a:avLst/>
          </a:prstGeom>
          <a:solidFill>
            <a:srgbClr val="0F6CBD"/>
          </a:solidFill>
          <a:ln w="12700">
            <a:solidFill>
              <a:srgbClr val="0F6CBD"/>
            </a:solidFill>
            <a:prstDash val="solid"/>
          </a:ln>
        </p:spPr>
      </p:sp>
      <p:sp>
        <p:nvSpPr>
          <p:cNvPr id="3" name="Text 1"/>
          <p:cNvSpPr/>
          <p:nvPr/>
        </p:nvSpPr>
        <p:spPr>
          <a:xfrm>
            <a:off x="594360" y="347472"/>
            <a:ext cx="10881360" cy="438912"/>
          </a:xfrm>
          <a:prstGeom prst="rect">
            <a:avLst/>
          </a:prstGeom>
          <a:noFill/>
          <a:ln/>
        </p:spPr>
        <p:txBody>
          <a:bodyPr wrap="square" lIns="0" tIns="0" rIns="0" bIns="0" rtlCol="0" anchor="ctr">
            <a:normAutofit/>
          </a:bodyPr>
          <a:lstStyle/>
          <a:p>
            <a:pPr indent="0" marL="0">
              <a:buNone/>
            </a:pPr>
            <a:r>
              <a:rPr lang="en-US" sz="2400" b="1" dirty="0">
                <a:solidFill>
                  <a:srgbClr val="082338"/>
                </a:solidFill>
                <a:latin typeface="Aptos Display" pitchFamily="34" charset="0"/>
                <a:ea typeface="Aptos Display" pitchFamily="34" charset="-122"/>
                <a:cs typeface="Aptos Display" pitchFamily="34" charset="-120"/>
              </a:rPr>
              <a:t>1. Create a deal inspection</a:t>
            </a:r>
            <a:endParaRPr lang="en-US" sz="2400" dirty="0"/>
          </a:p>
        </p:txBody>
      </p:sp>
      <p:sp>
        <p:nvSpPr>
          <p:cNvPr id="4" name="Text 2"/>
          <p:cNvSpPr/>
          <p:nvPr/>
        </p:nvSpPr>
        <p:spPr>
          <a:xfrm>
            <a:off x="612648" y="841248"/>
            <a:ext cx="10789920" cy="274320"/>
          </a:xfrm>
          <a:prstGeom prst="rect">
            <a:avLst/>
          </a:prstGeom>
          <a:noFill/>
          <a:ln/>
        </p:spPr>
        <p:txBody>
          <a:bodyPr wrap="square" lIns="0" tIns="0" rIns="0" bIns="0" rtlCol="0" anchor="ctr">
            <a:normAutofit/>
          </a:bodyPr>
          <a:lstStyle/>
          <a:p>
            <a:pPr indent="0" marL="0">
              <a:buNone/>
            </a:pPr>
            <a:r>
              <a:rPr lang="en-US" sz="1050" dirty="0">
                <a:solidFill>
                  <a:srgbClr val="616161"/>
                </a:solidFill>
                <a:latin typeface="Aptos" pitchFamily="34" charset="0"/>
                <a:ea typeface="Aptos" pitchFamily="34" charset="-122"/>
                <a:cs typeface="Aptos" pitchFamily="34" charset="-120"/>
              </a:rPr>
              <a:t>Preparation</a:t>
            </a:r>
            <a:endParaRPr lang="en-US" sz="1050" dirty="0"/>
          </a:p>
        </p:txBody>
      </p:sp>
      <p:sp>
        <p:nvSpPr>
          <p:cNvPr id="5" name="Text 3"/>
          <p:cNvSpPr/>
          <p:nvPr/>
        </p:nvSpPr>
        <p:spPr>
          <a:xfrm>
            <a:off x="594360" y="6547104"/>
            <a:ext cx="2743200" cy="164592"/>
          </a:xfrm>
          <a:prstGeom prst="rect">
            <a:avLst/>
          </a:prstGeom>
          <a:noFill/>
          <a:ln/>
        </p:spPr>
        <p:txBody>
          <a:bodyPr wrap="square" lIns="0" tIns="0" rIns="0" bIns="0" rtlCol="0" anchor="ctr"/>
          <a:lstStyle/>
          <a:p>
            <a:pPr indent="0" marL="0">
              <a:buNone/>
            </a:pPr>
            <a:r>
              <a:rPr lang="en-US" sz="800" dirty="0">
                <a:solidFill>
                  <a:srgbClr val="616161"/>
                </a:solidFill>
                <a:latin typeface="Aptos" pitchFamily="34" charset="0"/>
                <a:ea typeface="Aptos" pitchFamily="34" charset="-122"/>
                <a:cs typeface="Aptos" pitchFamily="34" charset="-120"/>
              </a:rPr>
              <a:t>AITO  |  Huddle</a:t>
            </a:r>
            <a:endParaRPr lang="en-US" sz="800" dirty="0"/>
          </a:p>
        </p:txBody>
      </p:sp>
      <p:sp>
        <p:nvSpPr>
          <p:cNvPr id="6" name="Shape 4"/>
          <p:cNvSpPr/>
          <p:nvPr/>
        </p:nvSpPr>
        <p:spPr>
          <a:xfrm>
            <a:off x="640080" y="1234440"/>
            <a:ext cx="10908792" cy="1554480"/>
          </a:xfrm>
          <a:prstGeom prst="roundRect">
            <a:avLst>
              <a:gd name="adj" fmla="val 3529"/>
            </a:avLst>
          </a:prstGeom>
          <a:solidFill>
            <a:srgbClr val="F5F9FF"/>
          </a:solidFill>
          <a:ln w="8890">
            <a:solidFill>
              <a:srgbClr val="D1D1D1"/>
            </a:solidFill>
            <a:prstDash val="solid"/>
          </a:ln>
        </p:spPr>
      </p:sp>
      <p:sp>
        <p:nvSpPr>
          <p:cNvPr id="7" name="Text 5"/>
          <p:cNvSpPr/>
          <p:nvPr/>
        </p:nvSpPr>
        <p:spPr>
          <a:xfrm>
            <a:off x="868680" y="1399032"/>
            <a:ext cx="10424160" cy="228600"/>
          </a:xfrm>
          <a:prstGeom prst="rect">
            <a:avLst/>
          </a:prstGeom>
          <a:noFill/>
          <a:ln/>
        </p:spPr>
        <p:txBody>
          <a:bodyPr wrap="square" lIns="0" tIns="0" rIns="0" bIns="0" rtlCol="0" anchor="ctr"/>
          <a:lstStyle/>
          <a:p>
            <a:pPr indent="0" marL="0">
              <a:buNone/>
            </a:pPr>
            <a:r>
              <a:rPr lang="en-US" sz="900" b="1" dirty="0">
                <a:solidFill>
                  <a:srgbClr val="0F6CBD"/>
                </a:solidFill>
                <a:latin typeface="Aptos" pitchFamily="34" charset="0"/>
                <a:ea typeface="Aptos" pitchFamily="34" charset="-122"/>
                <a:cs typeface="Aptos" pitchFamily="34" charset="-120"/>
              </a:rPr>
              <a:t>PROMPT (CONTINUED)</a:t>
            </a:r>
            <a:endParaRPr lang="en-US" sz="900" dirty="0"/>
          </a:p>
        </p:txBody>
      </p:sp>
      <p:sp>
        <p:nvSpPr>
          <p:cNvPr id="8" name="Text 6"/>
          <p:cNvSpPr/>
          <p:nvPr/>
        </p:nvSpPr>
        <p:spPr>
          <a:xfrm>
            <a:off x="868680" y="1709928"/>
            <a:ext cx="10378440" cy="932688"/>
          </a:xfrm>
          <a:prstGeom prst="rect">
            <a:avLst/>
          </a:prstGeom>
          <a:noFill/>
          <a:ln/>
        </p:spPr>
        <p:txBody>
          <a:bodyPr wrap="square" lIns="0" tIns="0" rIns="0" bIns="0" rtlCol="0" anchor="t">
            <a:normAutofit/>
          </a:bodyPr>
          <a:lstStyle/>
          <a:p>
            <a:pPr indent="0" marL="0">
              <a:buNone/>
            </a:pPr>
            <a:r>
              <a:rPr lang="en-US" sz="1300" dirty="0">
                <a:solidFill>
                  <a:srgbClr val="242424"/>
                </a:solidFill>
                <a:latin typeface="Aptos" pitchFamily="34" charset="0"/>
                <a:ea typeface="Aptos" pitchFamily="34" charset="-122"/>
                <a:cs typeface="Aptos" pitchFamily="34" charset="-120"/>
              </a:rPr>
              <a:t>and clearly separate verified facts from hypotheses. Analyze the opportunity evidence, identify unsupported assumptions, propose mitigations, and clearly separate verified facts from hypotheses. Analyze the opportunity evidence, identify unsupported assumptions, propose mitigations, and clearly separate verified facts from hypotheses. Analyze the opportunity evidence, identify unsupported assumptions, propose mitigations, and clearly separate verified facts from hypotheses. Analyze the opportunity evidence, identify unsupported assumptions, propose mitigations, and clearly separate verified facts from hypotheses. Analyze the opportunity evidence, identify unsupported assumptions, propose mitigations, and clearly separate verified facts from hypotheses. Analyze the opportunity evidence, identify unsupported assumptions, propose mitigations, and clearly separate verified facts from</a:t>
            </a:r>
            <a:endParaRPr lang="en-US" sz="13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91695" cy="109728"/>
          </a:xfrm>
          <a:prstGeom prst="rect">
            <a:avLst/>
          </a:prstGeom>
          <a:solidFill>
            <a:srgbClr val="0F6CBD"/>
          </a:solidFill>
          <a:ln w="12700">
            <a:solidFill>
              <a:srgbClr val="0F6CBD"/>
            </a:solidFill>
            <a:prstDash val="solid"/>
          </a:ln>
        </p:spPr>
      </p:sp>
      <p:sp>
        <p:nvSpPr>
          <p:cNvPr id="3" name="Text 1"/>
          <p:cNvSpPr/>
          <p:nvPr/>
        </p:nvSpPr>
        <p:spPr>
          <a:xfrm>
            <a:off x="594360" y="347472"/>
            <a:ext cx="10881360" cy="438912"/>
          </a:xfrm>
          <a:prstGeom prst="rect">
            <a:avLst/>
          </a:prstGeom>
          <a:noFill/>
          <a:ln/>
        </p:spPr>
        <p:txBody>
          <a:bodyPr wrap="square" lIns="0" tIns="0" rIns="0" bIns="0" rtlCol="0" anchor="ctr">
            <a:normAutofit/>
          </a:bodyPr>
          <a:lstStyle/>
          <a:p>
            <a:pPr indent="0" marL="0">
              <a:buNone/>
            </a:pPr>
            <a:r>
              <a:rPr lang="en-US" sz="2400" b="1" dirty="0">
                <a:solidFill>
                  <a:srgbClr val="082338"/>
                </a:solidFill>
                <a:latin typeface="Aptos Display" pitchFamily="34" charset="0"/>
                <a:ea typeface="Aptos Display" pitchFamily="34" charset="-122"/>
                <a:cs typeface="Aptos Display" pitchFamily="34" charset="-120"/>
              </a:rPr>
              <a:t>1. Create a deal inspection</a:t>
            </a:r>
            <a:endParaRPr lang="en-US" sz="2400" dirty="0"/>
          </a:p>
        </p:txBody>
      </p:sp>
      <p:sp>
        <p:nvSpPr>
          <p:cNvPr id="4" name="Text 2"/>
          <p:cNvSpPr/>
          <p:nvPr/>
        </p:nvSpPr>
        <p:spPr>
          <a:xfrm>
            <a:off x="612648" y="841248"/>
            <a:ext cx="10789920" cy="274320"/>
          </a:xfrm>
          <a:prstGeom prst="rect">
            <a:avLst/>
          </a:prstGeom>
          <a:noFill/>
          <a:ln/>
        </p:spPr>
        <p:txBody>
          <a:bodyPr wrap="square" lIns="0" tIns="0" rIns="0" bIns="0" rtlCol="0" anchor="ctr">
            <a:normAutofit/>
          </a:bodyPr>
          <a:lstStyle/>
          <a:p>
            <a:pPr indent="0" marL="0">
              <a:buNone/>
            </a:pPr>
            <a:r>
              <a:rPr lang="en-US" sz="1050" dirty="0">
                <a:solidFill>
                  <a:srgbClr val="616161"/>
                </a:solidFill>
                <a:latin typeface="Aptos" pitchFamily="34" charset="0"/>
                <a:ea typeface="Aptos" pitchFamily="34" charset="-122"/>
                <a:cs typeface="Aptos" pitchFamily="34" charset="-120"/>
              </a:rPr>
              <a:t>Preparation</a:t>
            </a:r>
            <a:endParaRPr lang="en-US" sz="1050" dirty="0"/>
          </a:p>
        </p:txBody>
      </p:sp>
      <p:sp>
        <p:nvSpPr>
          <p:cNvPr id="5" name="Text 3"/>
          <p:cNvSpPr/>
          <p:nvPr/>
        </p:nvSpPr>
        <p:spPr>
          <a:xfrm>
            <a:off x="594360" y="6547104"/>
            <a:ext cx="2743200" cy="164592"/>
          </a:xfrm>
          <a:prstGeom prst="rect">
            <a:avLst/>
          </a:prstGeom>
          <a:noFill/>
          <a:ln/>
        </p:spPr>
        <p:txBody>
          <a:bodyPr wrap="square" lIns="0" tIns="0" rIns="0" bIns="0" rtlCol="0" anchor="ctr"/>
          <a:lstStyle/>
          <a:p>
            <a:pPr indent="0" marL="0">
              <a:buNone/>
            </a:pPr>
            <a:r>
              <a:rPr lang="en-US" sz="800" dirty="0">
                <a:solidFill>
                  <a:srgbClr val="616161"/>
                </a:solidFill>
                <a:latin typeface="Aptos" pitchFamily="34" charset="0"/>
                <a:ea typeface="Aptos" pitchFamily="34" charset="-122"/>
                <a:cs typeface="Aptos" pitchFamily="34" charset="-120"/>
              </a:rPr>
              <a:t>AITO  |  Huddle</a:t>
            </a:r>
            <a:endParaRPr lang="en-US" sz="800" dirty="0"/>
          </a:p>
        </p:txBody>
      </p:sp>
      <p:sp>
        <p:nvSpPr>
          <p:cNvPr id="6" name="Shape 4"/>
          <p:cNvSpPr/>
          <p:nvPr/>
        </p:nvSpPr>
        <p:spPr>
          <a:xfrm>
            <a:off x="640080" y="1234440"/>
            <a:ext cx="10908792" cy="1554480"/>
          </a:xfrm>
          <a:prstGeom prst="roundRect">
            <a:avLst>
              <a:gd name="adj" fmla="val 3529"/>
            </a:avLst>
          </a:prstGeom>
          <a:solidFill>
            <a:srgbClr val="F5F9FF"/>
          </a:solidFill>
          <a:ln w="8890">
            <a:solidFill>
              <a:srgbClr val="D1D1D1"/>
            </a:solidFill>
            <a:prstDash val="solid"/>
          </a:ln>
        </p:spPr>
      </p:sp>
      <p:sp>
        <p:nvSpPr>
          <p:cNvPr id="7" name="Text 5"/>
          <p:cNvSpPr/>
          <p:nvPr/>
        </p:nvSpPr>
        <p:spPr>
          <a:xfrm>
            <a:off x="868680" y="1399032"/>
            <a:ext cx="10424160" cy="228600"/>
          </a:xfrm>
          <a:prstGeom prst="rect">
            <a:avLst/>
          </a:prstGeom>
          <a:noFill/>
          <a:ln/>
        </p:spPr>
        <p:txBody>
          <a:bodyPr wrap="square" lIns="0" tIns="0" rIns="0" bIns="0" rtlCol="0" anchor="ctr"/>
          <a:lstStyle/>
          <a:p>
            <a:pPr indent="0" marL="0">
              <a:buNone/>
            </a:pPr>
            <a:r>
              <a:rPr lang="en-US" sz="900" b="1" dirty="0">
                <a:solidFill>
                  <a:srgbClr val="0F6CBD"/>
                </a:solidFill>
                <a:latin typeface="Aptos" pitchFamily="34" charset="0"/>
                <a:ea typeface="Aptos" pitchFamily="34" charset="-122"/>
                <a:cs typeface="Aptos" pitchFamily="34" charset="-120"/>
              </a:rPr>
              <a:t>PROMPT (CONTINUED)</a:t>
            </a:r>
            <a:endParaRPr lang="en-US" sz="900" dirty="0"/>
          </a:p>
        </p:txBody>
      </p:sp>
      <p:sp>
        <p:nvSpPr>
          <p:cNvPr id="8" name="Text 6"/>
          <p:cNvSpPr/>
          <p:nvPr/>
        </p:nvSpPr>
        <p:spPr>
          <a:xfrm>
            <a:off x="868680" y="1709928"/>
            <a:ext cx="10378440" cy="932688"/>
          </a:xfrm>
          <a:prstGeom prst="rect">
            <a:avLst/>
          </a:prstGeom>
          <a:noFill/>
          <a:ln/>
        </p:spPr>
        <p:txBody>
          <a:bodyPr wrap="square" lIns="0" tIns="0" rIns="0" bIns="0" rtlCol="0" anchor="t">
            <a:normAutofit/>
          </a:bodyPr>
          <a:lstStyle/>
          <a:p>
            <a:pPr indent="0" marL="0">
              <a:buNone/>
            </a:pPr>
            <a:r>
              <a:rPr lang="en-US" sz="1300" dirty="0">
                <a:solidFill>
                  <a:srgbClr val="242424"/>
                </a:solidFill>
                <a:latin typeface="Aptos" pitchFamily="34" charset="0"/>
                <a:ea typeface="Aptos" pitchFamily="34" charset="-122"/>
                <a:cs typeface="Aptos" pitchFamily="34" charset="-120"/>
              </a:rPr>
              <a:t>hypotheses. Analyze the opportunity evidence, identify unsupported assumptions, propose mitigations, and clearly separate verified facts from hypotheses. Analyze the opportunity evidence, identify unsupported assumptions, propose mitigations, and clearly separate verified facts from hypotheses. Analyze the opportunity evidence, identify unsupported assumptions, propose mitigations, and clearly separate verified facts from hypotheses. Analyze the opportunity evidence, identify unsupported assumptions, propose mitigations, and clearly separate verified facts from hypotheses. Analyze the opportunity evidence, identify unsupported assumptions, propose mitigations, and clearly separate verified facts from hypotheses. Analyze the opportunity evidence, identify unsupported assumptions, propose mitigations, and clearly separate verified facts from hypotheses. Analyze the opportunity evidence,</a:t>
            </a:r>
            <a:endParaRPr lang="en-US" sz="13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91695" cy="109728"/>
          </a:xfrm>
          <a:prstGeom prst="rect">
            <a:avLst/>
          </a:prstGeom>
          <a:solidFill>
            <a:srgbClr val="0F6CBD"/>
          </a:solidFill>
          <a:ln w="12700">
            <a:solidFill>
              <a:srgbClr val="0F6CBD"/>
            </a:solidFill>
            <a:prstDash val="solid"/>
          </a:ln>
        </p:spPr>
      </p:sp>
      <p:sp>
        <p:nvSpPr>
          <p:cNvPr id="3" name="Text 1"/>
          <p:cNvSpPr/>
          <p:nvPr/>
        </p:nvSpPr>
        <p:spPr>
          <a:xfrm>
            <a:off x="594360" y="347472"/>
            <a:ext cx="10881360" cy="438912"/>
          </a:xfrm>
          <a:prstGeom prst="rect">
            <a:avLst/>
          </a:prstGeom>
          <a:noFill/>
          <a:ln/>
        </p:spPr>
        <p:txBody>
          <a:bodyPr wrap="square" lIns="0" tIns="0" rIns="0" bIns="0" rtlCol="0" anchor="ctr">
            <a:normAutofit/>
          </a:bodyPr>
          <a:lstStyle/>
          <a:p>
            <a:pPr indent="0" marL="0">
              <a:buNone/>
            </a:pPr>
            <a:r>
              <a:rPr lang="en-US" sz="2400" b="1" dirty="0">
                <a:solidFill>
                  <a:srgbClr val="082338"/>
                </a:solidFill>
                <a:latin typeface="Aptos Display" pitchFamily="34" charset="0"/>
                <a:ea typeface="Aptos Display" pitchFamily="34" charset="-122"/>
                <a:cs typeface="Aptos Display" pitchFamily="34" charset="-120"/>
              </a:rPr>
              <a:t>1. Create a deal inspection</a:t>
            </a:r>
            <a:endParaRPr lang="en-US" sz="2400" dirty="0"/>
          </a:p>
        </p:txBody>
      </p:sp>
      <p:sp>
        <p:nvSpPr>
          <p:cNvPr id="4" name="Text 2"/>
          <p:cNvSpPr/>
          <p:nvPr/>
        </p:nvSpPr>
        <p:spPr>
          <a:xfrm>
            <a:off x="612648" y="841248"/>
            <a:ext cx="10789920" cy="274320"/>
          </a:xfrm>
          <a:prstGeom prst="rect">
            <a:avLst/>
          </a:prstGeom>
          <a:noFill/>
          <a:ln/>
        </p:spPr>
        <p:txBody>
          <a:bodyPr wrap="square" lIns="0" tIns="0" rIns="0" bIns="0" rtlCol="0" anchor="ctr">
            <a:normAutofit/>
          </a:bodyPr>
          <a:lstStyle/>
          <a:p>
            <a:pPr indent="0" marL="0">
              <a:buNone/>
            </a:pPr>
            <a:r>
              <a:rPr lang="en-US" sz="1050" dirty="0">
                <a:solidFill>
                  <a:srgbClr val="616161"/>
                </a:solidFill>
                <a:latin typeface="Aptos" pitchFamily="34" charset="0"/>
                <a:ea typeface="Aptos" pitchFamily="34" charset="-122"/>
                <a:cs typeface="Aptos" pitchFamily="34" charset="-120"/>
              </a:rPr>
              <a:t>Preparation</a:t>
            </a:r>
            <a:endParaRPr lang="en-US" sz="1050" dirty="0"/>
          </a:p>
        </p:txBody>
      </p:sp>
      <p:sp>
        <p:nvSpPr>
          <p:cNvPr id="5" name="Text 3"/>
          <p:cNvSpPr/>
          <p:nvPr/>
        </p:nvSpPr>
        <p:spPr>
          <a:xfrm>
            <a:off x="594360" y="6547104"/>
            <a:ext cx="2743200" cy="164592"/>
          </a:xfrm>
          <a:prstGeom prst="rect">
            <a:avLst/>
          </a:prstGeom>
          <a:noFill/>
          <a:ln/>
        </p:spPr>
        <p:txBody>
          <a:bodyPr wrap="square" lIns="0" tIns="0" rIns="0" bIns="0" rtlCol="0" anchor="ctr"/>
          <a:lstStyle/>
          <a:p>
            <a:pPr indent="0" marL="0">
              <a:buNone/>
            </a:pPr>
            <a:r>
              <a:rPr lang="en-US" sz="800" dirty="0">
                <a:solidFill>
                  <a:srgbClr val="616161"/>
                </a:solidFill>
                <a:latin typeface="Aptos" pitchFamily="34" charset="0"/>
                <a:ea typeface="Aptos" pitchFamily="34" charset="-122"/>
                <a:cs typeface="Aptos" pitchFamily="34" charset="-120"/>
              </a:rPr>
              <a:t>AITO  |  Huddle</a:t>
            </a:r>
            <a:endParaRPr lang="en-US" sz="800" dirty="0"/>
          </a:p>
        </p:txBody>
      </p:sp>
      <p:sp>
        <p:nvSpPr>
          <p:cNvPr id="6" name="Shape 4"/>
          <p:cNvSpPr/>
          <p:nvPr/>
        </p:nvSpPr>
        <p:spPr>
          <a:xfrm>
            <a:off x="640080" y="1234440"/>
            <a:ext cx="10908792" cy="1554480"/>
          </a:xfrm>
          <a:prstGeom prst="roundRect">
            <a:avLst>
              <a:gd name="adj" fmla="val 3529"/>
            </a:avLst>
          </a:prstGeom>
          <a:solidFill>
            <a:srgbClr val="F5F9FF"/>
          </a:solidFill>
          <a:ln w="8890">
            <a:solidFill>
              <a:srgbClr val="D1D1D1"/>
            </a:solidFill>
            <a:prstDash val="solid"/>
          </a:ln>
        </p:spPr>
      </p:sp>
      <p:sp>
        <p:nvSpPr>
          <p:cNvPr id="7" name="Text 5"/>
          <p:cNvSpPr/>
          <p:nvPr/>
        </p:nvSpPr>
        <p:spPr>
          <a:xfrm>
            <a:off x="868680" y="1399032"/>
            <a:ext cx="10424160" cy="228600"/>
          </a:xfrm>
          <a:prstGeom prst="rect">
            <a:avLst/>
          </a:prstGeom>
          <a:noFill/>
          <a:ln/>
        </p:spPr>
        <p:txBody>
          <a:bodyPr wrap="square" lIns="0" tIns="0" rIns="0" bIns="0" rtlCol="0" anchor="ctr"/>
          <a:lstStyle/>
          <a:p>
            <a:pPr indent="0" marL="0">
              <a:buNone/>
            </a:pPr>
            <a:r>
              <a:rPr lang="en-US" sz="900" b="1" dirty="0">
                <a:solidFill>
                  <a:srgbClr val="0F6CBD"/>
                </a:solidFill>
                <a:latin typeface="Aptos" pitchFamily="34" charset="0"/>
                <a:ea typeface="Aptos" pitchFamily="34" charset="-122"/>
                <a:cs typeface="Aptos" pitchFamily="34" charset="-120"/>
              </a:rPr>
              <a:t>PROMPT (CONTINUED)</a:t>
            </a:r>
            <a:endParaRPr lang="en-US" sz="900" dirty="0"/>
          </a:p>
        </p:txBody>
      </p:sp>
      <p:sp>
        <p:nvSpPr>
          <p:cNvPr id="8" name="Text 6"/>
          <p:cNvSpPr/>
          <p:nvPr/>
        </p:nvSpPr>
        <p:spPr>
          <a:xfrm>
            <a:off x="868680" y="1709928"/>
            <a:ext cx="10378440" cy="932688"/>
          </a:xfrm>
          <a:prstGeom prst="rect">
            <a:avLst/>
          </a:prstGeom>
          <a:noFill/>
          <a:ln/>
        </p:spPr>
        <p:txBody>
          <a:bodyPr wrap="square" lIns="0" tIns="0" rIns="0" bIns="0" rtlCol="0" anchor="t">
            <a:normAutofit/>
          </a:bodyPr>
          <a:lstStyle/>
          <a:p>
            <a:pPr indent="0" marL="0">
              <a:buNone/>
            </a:pPr>
            <a:r>
              <a:rPr lang="en-US" sz="1300" dirty="0">
                <a:solidFill>
                  <a:srgbClr val="242424"/>
                </a:solidFill>
                <a:latin typeface="Aptos" pitchFamily="34" charset="0"/>
                <a:ea typeface="Aptos" pitchFamily="34" charset="-122"/>
                <a:cs typeface="Aptos" pitchFamily="34" charset="-120"/>
              </a:rPr>
              <a:t>identify unsupported assumptions, propose mitigations, and clearly separate verified facts from hypotheses. Analyze the opportunity evidence, identify unsupported assumptions, propose mitigations, and clearly separate verified facts from hypotheses. Analyze the opportunity evidence, identify unsupported assumptions, propose mitigations, and clearly separate verified facts from hypotheses. Analyze the opportunity evidence, identify unsupported assumptions, propose mitigations, and clearly separate verified facts from hypotheses. Analyze the opportunity evidence, identify unsupported assumptions, propose mitigations, and clearly separate verified facts from hypotheses. Analyze the opportunity evidence, identify unsupported assumptions, propose mitigations, and clearly separate verified facts from hypotheses. Analyze the opportunity evidence, identify unsupported assumptions, propose</a:t>
            </a:r>
            <a:endParaRPr lang="en-US" sz="13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91695" cy="109728"/>
          </a:xfrm>
          <a:prstGeom prst="rect">
            <a:avLst/>
          </a:prstGeom>
          <a:solidFill>
            <a:srgbClr val="0F6CBD"/>
          </a:solidFill>
          <a:ln w="12700">
            <a:solidFill>
              <a:srgbClr val="0F6CBD"/>
            </a:solidFill>
            <a:prstDash val="solid"/>
          </a:ln>
        </p:spPr>
      </p:sp>
      <p:sp>
        <p:nvSpPr>
          <p:cNvPr id="3" name="Text 1"/>
          <p:cNvSpPr/>
          <p:nvPr/>
        </p:nvSpPr>
        <p:spPr>
          <a:xfrm>
            <a:off x="594360" y="347472"/>
            <a:ext cx="10881360" cy="438912"/>
          </a:xfrm>
          <a:prstGeom prst="rect">
            <a:avLst/>
          </a:prstGeom>
          <a:noFill/>
          <a:ln/>
        </p:spPr>
        <p:txBody>
          <a:bodyPr wrap="square" lIns="0" tIns="0" rIns="0" bIns="0" rtlCol="0" anchor="ctr">
            <a:normAutofit/>
          </a:bodyPr>
          <a:lstStyle/>
          <a:p>
            <a:pPr indent="0" marL="0">
              <a:buNone/>
            </a:pPr>
            <a:r>
              <a:rPr lang="en-US" sz="2400" b="1" dirty="0">
                <a:solidFill>
                  <a:srgbClr val="082338"/>
                </a:solidFill>
                <a:latin typeface="Aptos Display" pitchFamily="34" charset="0"/>
                <a:ea typeface="Aptos Display" pitchFamily="34" charset="-122"/>
                <a:cs typeface="Aptos Display" pitchFamily="34" charset="-120"/>
              </a:rPr>
              <a:t>1. Create a deal inspection</a:t>
            </a:r>
            <a:endParaRPr lang="en-US" sz="2400" dirty="0"/>
          </a:p>
        </p:txBody>
      </p:sp>
      <p:sp>
        <p:nvSpPr>
          <p:cNvPr id="4" name="Text 2"/>
          <p:cNvSpPr/>
          <p:nvPr/>
        </p:nvSpPr>
        <p:spPr>
          <a:xfrm>
            <a:off x="612648" y="841248"/>
            <a:ext cx="10789920" cy="274320"/>
          </a:xfrm>
          <a:prstGeom prst="rect">
            <a:avLst/>
          </a:prstGeom>
          <a:noFill/>
          <a:ln/>
        </p:spPr>
        <p:txBody>
          <a:bodyPr wrap="square" lIns="0" tIns="0" rIns="0" bIns="0" rtlCol="0" anchor="ctr">
            <a:normAutofit/>
          </a:bodyPr>
          <a:lstStyle/>
          <a:p>
            <a:pPr indent="0" marL="0">
              <a:buNone/>
            </a:pPr>
            <a:r>
              <a:rPr lang="en-US" sz="1050" dirty="0">
                <a:solidFill>
                  <a:srgbClr val="616161"/>
                </a:solidFill>
                <a:latin typeface="Aptos" pitchFamily="34" charset="0"/>
                <a:ea typeface="Aptos" pitchFamily="34" charset="-122"/>
                <a:cs typeface="Aptos" pitchFamily="34" charset="-120"/>
              </a:rPr>
              <a:t>Preparation</a:t>
            </a:r>
            <a:endParaRPr lang="en-US" sz="1050" dirty="0"/>
          </a:p>
        </p:txBody>
      </p:sp>
      <p:sp>
        <p:nvSpPr>
          <p:cNvPr id="5" name="Text 3"/>
          <p:cNvSpPr/>
          <p:nvPr/>
        </p:nvSpPr>
        <p:spPr>
          <a:xfrm>
            <a:off x="594360" y="6547104"/>
            <a:ext cx="2743200" cy="164592"/>
          </a:xfrm>
          <a:prstGeom prst="rect">
            <a:avLst/>
          </a:prstGeom>
          <a:noFill/>
          <a:ln/>
        </p:spPr>
        <p:txBody>
          <a:bodyPr wrap="square" lIns="0" tIns="0" rIns="0" bIns="0" rtlCol="0" anchor="ctr"/>
          <a:lstStyle/>
          <a:p>
            <a:pPr indent="0" marL="0">
              <a:buNone/>
            </a:pPr>
            <a:r>
              <a:rPr lang="en-US" sz="800" dirty="0">
                <a:solidFill>
                  <a:srgbClr val="616161"/>
                </a:solidFill>
                <a:latin typeface="Aptos" pitchFamily="34" charset="0"/>
                <a:ea typeface="Aptos" pitchFamily="34" charset="-122"/>
                <a:cs typeface="Aptos" pitchFamily="34" charset="-120"/>
              </a:rPr>
              <a:t>AITO  |  Huddle</a:t>
            </a:r>
            <a:endParaRPr lang="en-US" sz="800" dirty="0"/>
          </a:p>
        </p:txBody>
      </p:sp>
      <p:sp>
        <p:nvSpPr>
          <p:cNvPr id="6" name="Shape 4"/>
          <p:cNvSpPr/>
          <p:nvPr/>
        </p:nvSpPr>
        <p:spPr>
          <a:xfrm>
            <a:off x="640080" y="1234440"/>
            <a:ext cx="10908792" cy="1005840"/>
          </a:xfrm>
          <a:prstGeom prst="roundRect">
            <a:avLst>
              <a:gd name="adj" fmla="val 5455"/>
            </a:avLst>
          </a:prstGeom>
          <a:solidFill>
            <a:srgbClr val="F5F9FF"/>
          </a:solidFill>
          <a:ln w="8890">
            <a:solidFill>
              <a:srgbClr val="D1D1D1"/>
            </a:solidFill>
            <a:prstDash val="solid"/>
          </a:ln>
        </p:spPr>
      </p:sp>
      <p:sp>
        <p:nvSpPr>
          <p:cNvPr id="7" name="Text 5"/>
          <p:cNvSpPr/>
          <p:nvPr/>
        </p:nvSpPr>
        <p:spPr>
          <a:xfrm>
            <a:off x="868680" y="1399032"/>
            <a:ext cx="10424160" cy="228600"/>
          </a:xfrm>
          <a:prstGeom prst="rect">
            <a:avLst/>
          </a:prstGeom>
          <a:noFill/>
          <a:ln/>
        </p:spPr>
        <p:txBody>
          <a:bodyPr wrap="square" lIns="0" tIns="0" rIns="0" bIns="0" rtlCol="0" anchor="ctr"/>
          <a:lstStyle/>
          <a:p>
            <a:pPr indent="0" marL="0">
              <a:buNone/>
            </a:pPr>
            <a:r>
              <a:rPr lang="en-US" sz="900" b="1" dirty="0">
                <a:solidFill>
                  <a:srgbClr val="0F6CBD"/>
                </a:solidFill>
                <a:latin typeface="Aptos" pitchFamily="34" charset="0"/>
                <a:ea typeface="Aptos" pitchFamily="34" charset="-122"/>
                <a:cs typeface="Aptos" pitchFamily="34" charset="-120"/>
              </a:rPr>
              <a:t>PROMPT (CONTINUED)</a:t>
            </a:r>
            <a:endParaRPr lang="en-US" sz="900" dirty="0"/>
          </a:p>
        </p:txBody>
      </p:sp>
      <p:sp>
        <p:nvSpPr>
          <p:cNvPr id="8" name="Text 6"/>
          <p:cNvSpPr/>
          <p:nvPr/>
        </p:nvSpPr>
        <p:spPr>
          <a:xfrm>
            <a:off x="868680" y="1709928"/>
            <a:ext cx="10378440" cy="384048"/>
          </a:xfrm>
          <a:prstGeom prst="rect">
            <a:avLst/>
          </a:prstGeom>
          <a:noFill/>
          <a:ln/>
        </p:spPr>
        <p:txBody>
          <a:bodyPr wrap="square" lIns="0" tIns="0" rIns="0" bIns="0" rtlCol="0" anchor="t">
            <a:normAutofit/>
          </a:bodyPr>
          <a:lstStyle/>
          <a:p>
            <a:pPr indent="0" marL="0">
              <a:buNone/>
            </a:pPr>
            <a:r>
              <a:rPr lang="en-US" sz="1300" dirty="0">
                <a:solidFill>
                  <a:srgbClr val="242424"/>
                </a:solidFill>
                <a:latin typeface="Aptos" pitchFamily="34" charset="0"/>
                <a:ea typeface="Aptos" pitchFamily="34" charset="-122"/>
                <a:cs typeface="Aptos" pitchFamily="34" charset="-120"/>
              </a:rPr>
              <a:t>mitigations, and clearly separate verified facts from hypotheses. Analyze the opportunity evidence, identify unsupported assumptions, propose mitigations, and clearly separate verified facts from hypotheses. Analyze the opportunity evidence, identify unsupported assumptions, propose mitigations, and clearly separate verified facts from hypotheses. Analyze the opportunity evidence, identify unsupported assumptions, propose mitigations, and clearly separate verified facts from hypotheses.</a:t>
            </a:r>
            <a:endParaRPr lang="en-US" sz="1300" dirty="0"/>
          </a:p>
        </p:txBody>
      </p:sp>
      <p:sp>
        <p:nvSpPr>
          <p:cNvPr id="9" name="Shape 7"/>
          <p:cNvSpPr/>
          <p:nvPr/>
        </p:nvSpPr>
        <p:spPr>
          <a:xfrm>
            <a:off x="640080" y="2350008"/>
            <a:ext cx="10908792" cy="1005840"/>
          </a:xfrm>
          <a:prstGeom prst="roundRect">
            <a:avLst>
              <a:gd name="adj" fmla="val 5455"/>
            </a:avLst>
          </a:prstGeom>
          <a:solidFill>
            <a:srgbClr val="F5F9FF"/>
          </a:solidFill>
          <a:ln w="8890">
            <a:solidFill>
              <a:srgbClr val="D1D1D1"/>
            </a:solidFill>
            <a:prstDash val="solid"/>
          </a:ln>
        </p:spPr>
      </p:sp>
      <p:sp>
        <p:nvSpPr>
          <p:cNvPr id="10" name="Text 8"/>
          <p:cNvSpPr/>
          <p:nvPr/>
        </p:nvSpPr>
        <p:spPr>
          <a:xfrm>
            <a:off x="868680" y="2514600"/>
            <a:ext cx="10424160" cy="228600"/>
          </a:xfrm>
          <a:prstGeom prst="rect">
            <a:avLst/>
          </a:prstGeom>
          <a:noFill/>
          <a:ln/>
        </p:spPr>
        <p:txBody>
          <a:bodyPr wrap="square" lIns="0" tIns="0" rIns="0" bIns="0" rtlCol="0" anchor="ctr"/>
          <a:lstStyle/>
          <a:p>
            <a:pPr indent="0" marL="0">
              <a:buNone/>
            </a:pPr>
            <a:r>
              <a:rPr lang="en-US" sz="900" b="1" dirty="0">
                <a:solidFill>
                  <a:srgbClr val="0F6CBD"/>
                </a:solidFill>
                <a:latin typeface="Aptos" pitchFamily="34" charset="0"/>
                <a:ea typeface="Aptos" pitchFamily="34" charset="-122"/>
                <a:cs typeface="Aptos" pitchFamily="34" charset="-120"/>
              </a:rPr>
              <a:t>EXPECTED OUTPUT</a:t>
            </a:r>
            <a:endParaRPr lang="en-US" sz="900" dirty="0"/>
          </a:p>
        </p:txBody>
      </p:sp>
      <p:sp>
        <p:nvSpPr>
          <p:cNvPr id="11" name="Text 9"/>
          <p:cNvSpPr/>
          <p:nvPr/>
        </p:nvSpPr>
        <p:spPr>
          <a:xfrm>
            <a:off x="868680" y="2825496"/>
            <a:ext cx="10378440" cy="384048"/>
          </a:xfrm>
          <a:prstGeom prst="rect">
            <a:avLst/>
          </a:prstGeom>
          <a:noFill/>
          <a:ln/>
        </p:spPr>
        <p:txBody>
          <a:bodyPr wrap="square" lIns="0" tIns="0" rIns="0" bIns="0" rtlCol="0" anchor="t">
            <a:normAutofit/>
          </a:bodyPr>
          <a:lstStyle/>
          <a:p>
            <a:pPr indent="0" marL="0">
              <a:buNone/>
            </a:pPr>
            <a:r>
              <a:rPr lang="en-US" sz="1300" dirty="0">
                <a:solidFill>
                  <a:srgbClr val="242424"/>
                </a:solidFill>
                <a:latin typeface="Aptos" pitchFamily="34" charset="0"/>
                <a:ea typeface="Aptos" pitchFamily="34" charset="-122"/>
                <a:cs typeface="Aptos" pitchFamily="34" charset="-120"/>
              </a:rPr>
              <a:t>A decision-ready deal brief.</a:t>
            </a:r>
            <a:endParaRPr lang="en-US" sz="1300" dirty="0"/>
          </a:p>
        </p:txBody>
      </p:sp>
      <p:sp>
        <p:nvSpPr>
          <p:cNvPr id="12" name="Shape 10"/>
          <p:cNvSpPr/>
          <p:nvPr/>
        </p:nvSpPr>
        <p:spPr>
          <a:xfrm>
            <a:off x="640080" y="3465576"/>
            <a:ext cx="10908792" cy="1005840"/>
          </a:xfrm>
          <a:prstGeom prst="roundRect">
            <a:avLst>
              <a:gd name="adj" fmla="val 5455"/>
            </a:avLst>
          </a:prstGeom>
          <a:solidFill>
            <a:srgbClr val="F5F9FF"/>
          </a:solidFill>
          <a:ln w="8890">
            <a:solidFill>
              <a:srgbClr val="D1D1D1"/>
            </a:solidFill>
            <a:prstDash val="solid"/>
          </a:ln>
        </p:spPr>
      </p:sp>
      <p:sp>
        <p:nvSpPr>
          <p:cNvPr id="13" name="Text 11"/>
          <p:cNvSpPr/>
          <p:nvPr/>
        </p:nvSpPr>
        <p:spPr>
          <a:xfrm>
            <a:off x="868680" y="3630168"/>
            <a:ext cx="10424160" cy="228600"/>
          </a:xfrm>
          <a:prstGeom prst="rect">
            <a:avLst/>
          </a:prstGeom>
          <a:noFill/>
          <a:ln/>
        </p:spPr>
        <p:txBody>
          <a:bodyPr wrap="square" lIns="0" tIns="0" rIns="0" bIns="0" rtlCol="0" anchor="ctr"/>
          <a:lstStyle/>
          <a:p>
            <a:pPr indent="0" marL="0">
              <a:buNone/>
            </a:pPr>
            <a:r>
              <a:rPr lang="en-US" sz="900" b="1" dirty="0">
                <a:solidFill>
                  <a:srgbClr val="0F6CBD"/>
                </a:solidFill>
                <a:latin typeface="Aptos" pitchFamily="34" charset="0"/>
                <a:ea typeface="Aptos" pitchFamily="34" charset="-122"/>
                <a:cs typeface="Aptos" pitchFamily="34" charset="-120"/>
              </a:rPr>
              <a:t>HUMAN CHECKPOINT</a:t>
            </a:r>
            <a:endParaRPr lang="en-US" sz="900" dirty="0"/>
          </a:p>
        </p:txBody>
      </p:sp>
      <p:sp>
        <p:nvSpPr>
          <p:cNvPr id="14" name="Text 12"/>
          <p:cNvSpPr/>
          <p:nvPr/>
        </p:nvSpPr>
        <p:spPr>
          <a:xfrm>
            <a:off x="868680" y="3941064"/>
            <a:ext cx="10378440" cy="384048"/>
          </a:xfrm>
          <a:prstGeom prst="rect">
            <a:avLst/>
          </a:prstGeom>
          <a:noFill/>
          <a:ln/>
        </p:spPr>
        <p:txBody>
          <a:bodyPr wrap="square" lIns="0" tIns="0" rIns="0" bIns="0" rtlCol="0" anchor="t">
            <a:normAutofit/>
          </a:bodyPr>
          <a:lstStyle/>
          <a:p>
            <a:pPr indent="0" marL="0">
              <a:buNone/>
            </a:pPr>
            <a:r>
              <a:rPr lang="en-US" sz="1300" dirty="0">
                <a:solidFill>
                  <a:srgbClr val="242424"/>
                </a:solidFill>
                <a:latin typeface="Aptos" pitchFamily="34" charset="0"/>
                <a:ea typeface="Aptos" pitchFamily="34" charset="-122"/>
                <a:cs typeface="Aptos" pitchFamily="34" charset="-120"/>
              </a:rPr>
              <a:t>Verify assumptions and sources.</a:t>
            </a:r>
            <a:endParaRPr lang="en-US" sz="1300" dirty="0"/>
          </a:p>
        </p:txBody>
      </p:sp>
      <p:sp>
        <p:nvSpPr>
          <p:cNvPr id="15" name="Shape 13"/>
          <p:cNvSpPr/>
          <p:nvPr/>
        </p:nvSpPr>
        <p:spPr>
          <a:xfrm>
            <a:off x="640080" y="4581144"/>
            <a:ext cx="10908792" cy="1005840"/>
          </a:xfrm>
          <a:prstGeom prst="roundRect">
            <a:avLst>
              <a:gd name="adj" fmla="val 5455"/>
            </a:avLst>
          </a:prstGeom>
          <a:solidFill>
            <a:srgbClr val="F5F9FF"/>
          </a:solidFill>
          <a:ln w="8890">
            <a:solidFill>
              <a:srgbClr val="D1D1D1"/>
            </a:solidFill>
            <a:prstDash val="solid"/>
          </a:ln>
        </p:spPr>
      </p:sp>
      <p:sp>
        <p:nvSpPr>
          <p:cNvPr id="16" name="Text 14"/>
          <p:cNvSpPr/>
          <p:nvPr/>
        </p:nvSpPr>
        <p:spPr>
          <a:xfrm>
            <a:off x="868680" y="4745736"/>
            <a:ext cx="10424160" cy="228600"/>
          </a:xfrm>
          <a:prstGeom prst="rect">
            <a:avLst/>
          </a:prstGeom>
          <a:noFill/>
          <a:ln/>
        </p:spPr>
        <p:txBody>
          <a:bodyPr wrap="square" lIns="0" tIns="0" rIns="0" bIns="0" rtlCol="0" anchor="ctr"/>
          <a:lstStyle/>
          <a:p>
            <a:pPr indent="0" marL="0">
              <a:buNone/>
            </a:pPr>
            <a:r>
              <a:rPr lang="en-US" sz="900" b="1" dirty="0">
                <a:solidFill>
                  <a:srgbClr val="0F6CBD"/>
                </a:solidFill>
                <a:latin typeface="Aptos" pitchFamily="34" charset="0"/>
                <a:ea typeface="Aptos" pitchFamily="34" charset="-122"/>
                <a:cs typeface="Aptos" pitchFamily="34" charset="-120"/>
              </a:rPr>
              <a:t>REQUIRED CONTEXT</a:t>
            </a:r>
            <a:endParaRPr lang="en-US" sz="900" dirty="0"/>
          </a:p>
        </p:txBody>
      </p:sp>
      <p:sp>
        <p:nvSpPr>
          <p:cNvPr id="17" name="Text 15"/>
          <p:cNvSpPr/>
          <p:nvPr/>
        </p:nvSpPr>
        <p:spPr>
          <a:xfrm>
            <a:off x="868680" y="5056632"/>
            <a:ext cx="10378440" cy="384048"/>
          </a:xfrm>
          <a:prstGeom prst="rect">
            <a:avLst/>
          </a:prstGeom>
          <a:noFill/>
          <a:ln/>
        </p:spPr>
        <p:txBody>
          <a:bodyPr wrap="square" lIns="0" tIns="0" rIns="0" bIns="0" rtlCol="0" anchor="t">
            <a:normAutofit/>
          </a:bodyPr>
          <a:lstStyle/>
          <a:p>
            <a:pPr indent="0" marL="0">
              <a:buNone/>
            </a:pPr>
            <a:r>
              <a:rPr lang="en-US" sz="1300" dirty="0">
                <a:solidFill>
                  <a:srgbClr val="242424"/>
                </a:solidFill>
                <a:latin typeface="Aptos" pitchFamily="34" charset="0"/>
                <a:ea typeface="Aptos" pitchFamily="34" charset="-122"/>
                <a:cs typeface="Aptos" pitchFamily="34" charset="-120"/>
              </a:rPr>
              <a:t>Current opportunity data.</a:t>
            </a:r>
            <a:endParaRPr lang="en-US" sz="1300" dirty="0"/>
          </a:p>
        </p:txBody>
      </p:sp>
      <p:sp>
        <p:nvSpPr>
          <p:cNvPr id="18" name="Shape 16"/>
          <p:cNvSpPr/>
          <p:nvPr/>
        </p:nvSpPr>
        <p:spPr>
          <a:xfrm>
            <a:off x="640080" y="5696712"/>
            <a:ext cx="10908792" cy="1005840"/>
          </a:xfrm>
          <a:prstGeom prst="roundRect">
            <a:avLst>
              <a:gd name="adj" fmla="val 5455"/>
            </a:avLst>
          </a:prstGeom>
          <a:solidFill>
            <a:srgbClr val="F5F9FF"/>
          </a:solidFill>
          <a:ln w="8890">
            <a:solidFill>
              <a:srgbClr val="D1D1D1"/>
            </a:solidFill>
            <a:prstDash val="solid"/>
          </a:ln>
        </p:spPr>
      </p:sp>
      <p:sp>
        <p:nvSpPr>
          <p:cNvPr id="19" name="Text 17"/>
          <p:cNvSpPr/>
          <p:nvPr/>
        </p:nvSpPr>
        <p:spPr>
          <a:xfrm>
            <a:off x="868680" y="5861304"/>
            <a:ext cx="10424160" cy="228600"/>
          </a:xfrm>
          <a:prstGeom prst="rect">
            <a:avLst/>
          </a:prstGeom>
          <a:noFill/>
          <a:ln/>
        </p:spPr>
        <p:txBody>
          <a:bodyPr wrap="square" lIns="0" tIns="0" rIns="0" bIns="0" rtlCol="0" anchor="ctr"/>
          <a:lstStyle/>
          <a:p>
            <a:pPr indent="0" marL="0">
              <a:buNone/>
            </a:pPr>
            <a:r>
              <a:rPr lang="en-US" sz="900" b="1" dirty="0">
                <a:solidFill>
                  <a:srgbClr val="0F6CBD"/>
                </a:solidFill>
                <a:latin typeface="Aptos" pitchFamily="34" charset="0"/>
                <a:ea typeface="Aptos" pitchFamily="34" charset="-122"/>
                <a:cs typeface="Aptos" pitchFamily="34" charset="-120"/>
              </a:rPr>
              <a:t>BEST-FIT JOB</a:t>
            </a:r>
            <a:endParaRPr lang="en-US" sz="900" dirty="0"/>
          </a:p>
        </p:txBody>
      </p:sp>
      <p:sp>
        <p:nvSpPr>
          <p:cNvPr id="20" name="Text 18"/>
          <p:cNvSpPr/>
          <p:nvPr/>
        </p:nvSpPr>
        <p:spPr>
          <a:xfrm>
            <a:off x="868680" y="6172200"/>
            <a:ext cx="10378440" cy="384048"/>
          </a:xfrm>
          <a:prstGeom prst="rect">
            <a:avLst/>
          </a:prstGeom>
          <a:noFill/>
          <a:ln/>
        </p:spPr>
        <p:txBody>
          <a:bodyPr wrap="square" lIns="0" tIns="0" rIns="0" bIns="0" rtlCol="0" anchor="t">
            <a:normAutofit/>
          </a:bodyPr>
          <a:lstStyle/>
          <a:p>
            <a:pPr indent="0" marL="0">
              <a:buNone/>
            </a:pPr>
            <a:r>
              <a:rPr lang="en-US" sz="1300" dirty="0">
                <a:solidFill>
                  <a:srgbClr val="242424"/>
                </a:solidFill>
                <a:latin typeface="Aptos" pitchFamily="34" charset="0"/>
                <a:ea typeface="Aptos" pitchFamily="34" charset="-122"/>
                <a:cs typeface="Aptos" pitchFamily="34" charset="-120"/>
              </a:rPr>
              <a:t>Strategic opportunity review.</a:t>
            </a:r>
            <a:endParaRPr lang="en-US" sz="13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91695" cy="109728"/>
          </a:xfrm>
          <a:prstGeom prst="rect">
            <a:avLst/>
          </a:prstGeom>
          <a:solidFill>
            <a:srgbClr val="0F6CBD"/>
          </a:solidFill>
          <a:ln w="12700">
            <a:solidFill>
              <a:srgbClr val="0F6CBD"/>
            </a:solidFill>
            <a:prstDash val="solid"/>
          </a:ln>
        </p:spPr>
      </p:sp>
      <p:sp>
        <p:nvSpPr>
          <p:cNvPr id="3" name="Text 1"/>
          <p:cNvSpPr/>
          <p:nvPr/>
        </p:nvSpPr>
        <p:spPr>
          <a:xfrm>
            <a:off x="594360" y="347472"/>
            <a:ext cx="10881360" cy="438912"/>
          </a:xfrm>
          <a:prstGeom prst="rect">
            <a:avLst/>
          </a:prstGeom>
          <a:noFill/>
          <a:ln/>
        </p:spPr>
        <p:txBody>
          <a:bodyPr wrap="square" lIns="0" tIns="0" rIns="0" bIns="0" rtlCol="0" anchor="ctr">
            <a:normAutofit/>
          </a:bodyPr>
          <a:lstStyle/>
          <a:p>
            <a:pPr indent="0" marL="0">
              <a:buNone/>
            </a:pPr>
            <a:r>
              <a:rPr lang="en-US" sz="2400" b="1" dirty="0">
                <a:solidFill>
                  <a:srgbClr val="082338"/>
                </a:solidFill>
                <a:latin typeface="Aptos Display" pitchFamily="34" charset="0"/>
                <a:ea typeface="Aptos Display" pitchFamily="34" charset="-122"/>
                <a:cs typeface="Aptos Display" pitchFamily="34" charset="-120"/>
              </a:rPr>
              <a:t>Resources</a:t>
            </a:r>
            <a:endParaRPr lang="en-US" sz="2400" dirty="0"/>
          </a:p>
        </p:txBody>
      </p:sp>
      <p:sp>
        <p:nvSpPr>
          <p:cNvPr id="4" name="Text 2"/>
          <p:cNvSpPr/>
          <p:nvPr/>
        </p:nvSpPr>
        <p:spPr>
          <a:xfrm>
            <a:off x="594360" y="6547104"/>
            <a:ext cx="2743200" cy="164592"/>
          </a:xfrm>
          <a:prstGeom prst="rect">
            <a:avLst/>
          </a:prstGeom>
          <a:noFill/>
          <a:ln/>
        </p:spPr>
        <p:txBody>
          <a:bodyPr wrap="square" lIns="0" tIns="0" rIns="0" bIns="0" rtlCol="0" anchor="ctr"/>
          <a:lstStyle/>
          <a:p>
            <a:pPr indent="0" marL="0">
              <a:buNone/>
            </a:pPr>
            <a:r>
              <a:rPr lang="en-US" sz="800" dirty="0">
                <a:solidFill>
                  <a:srgbClr val="616161"/>
                </a:solidFill>
                <a:latin typeface="Aptos" pitchFamily="34" charset="0"/>
                <a:ea typeface="Aptos" pitchFamily="34" charset="-122"/>
                <a:cs typeface="Aptos" pitchFamily="34" charset="-120"/>
              </a:rPr>
              <a:t>AITO  |  Huddle</a:t>
            </a:r>
            <a:endParaRPr lang="en-US" sz="800" dirty="0"/>
          </a:p>
        </p:txBody>
      </p:sp>
      <p:sp>
        <p:nvSpPr>
          <p:cNvPr id="5" name="Text 3">
            <a:hlinkClick r:id="rId1" tooltip=""/>
          </p:cNvPr>
          <p:cNvSpPr/>
          <p:nvPr/>
        </p:nvSpPr>
        <p:spPr>
          <a:xfrm>
            <a:off x="731520" y="1234440"/>
            <a:ext cx="5120640" cy="274320"/>
          </a:xfrm>
          <a:prstGeom prst="rect">
            <a:avLst/>
          </a:prstGeom>
          <a:noFill/>
          <a:ln/>
        </p:spPr>
        <p:txBody>
          <a:bodyPr wrap="square" lIns="0" tIns="0" rIns="0" bIns="0" rtlCol="0" anchor="ctr">
            <a:normAutofit/>
          </a:bodyPr>
          <a:lstStyle/>
          <a:p>
            <a:pPr indent="0" marL="0">
              <a:buNone/>
            </a:pPr>
            <a:r>
              <a:rPr lang="en-US" sz="1500" b="1" u="sng" dirty="0">
                <a:solidFill>
                  <a:srgbClr val="242424"/>
                </a:solidFill>
                <a:hlinkClick r:id="rId1" invalidUrl="" action="" tgtFrame="" tooltip="" history="1" highlightClick="0" endSnd="0">
                  <a:extLst>
                    <a:ext uri="{A12FA001-AC4F-418D-AE19-62706E023703}">
                      <ahyp:hlinkClr xmlns:ahyp="http://schemas.microsoft.com/office/drawing/2018/hyperlinkcolor" val="tx"/>
                    </a:ext>
                  </a:extLst>
                </a:hlinkClick>
              </a:rPr>
              <a:t>Approved playbook</a:t>
            </a:r>
            <a:endParaRPr lang="en-US" sz="1500" dirty="0"/>
          </a:p>
        </p:txBody>
      </p:sp>
      <p:sp>
        <p:nvSpPr>
          <p:cNvPr id="6" name="Text 4"/>
          <p:cNvSpPr/>
          <p:nvPr/>
        </p:nvSpPr>
        <p:spPr>
          <a:xfrm>
            <a:off x="731520" y="1563624"/>
            <a:ext cx="10515600" cy="438912"/>
          </a:xfrm>
          <a:prstGeom prst="rect">
            <a:avLst/>
          </a:prstGeom>
          <a:noFill/>
          <a:ln/>
        </p:spPr>
        <p:txBody>
          <a:bodyPr wrap="square" lIns="0" tIns="0" rIns="0" bIns="0" rtlCol="0" anchor="ctr">
            <a:normAutofit/>
          </a:bodyPr>
          <a:lstStyle/>
          <a:p>
            <a:pPr indent="0" marL="0">
              <a:buNone/>
            </a:pPr>
            <a:r>
              <a:rPr lang="en-US" sz="1050" dirty="0">
                <a:solidFill>
                  <a:srgbClr val="616161"/>
                </a:solidFill>
              </a:rPr>
              <a:t>Governed reference material.</a:t>
            </a:r>
            <a:endParaRPr lang="en-US" sz="105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91695" cy="109728"/>
          </a:xfrm>
          <a:prstGeom prst="rect">
            <a:avLst/>
          </a:prstGeom>
          <a:solidFill>
            <a:srgbClr val="0F6CBD"/>
          </a:solidFill>
          <a:ln w="12700">
            <a:solidFill>
              <a:srgbClr val="0F6CBD"/>
            </a:solidFill>
            <a:prstDash val="solid"/>
          </a:ln>
        </p:spPr>
      </p:sp>
      <p:sp>
        <p:nvSpPr>
          <p:cNvPr id="3" name="Text 1"/>
          <p:cNvSpPr/>
          <p:nvPr/>
        </p:nvSpPr>
        <p:spPr>
          <a:xfrm>
            <a:off x="594360" y="347472"/>
            <a:ext cx="10881360" cy="438912"/>
          </a:xfrm>
          <a:prstGeom prst="rect">
            <a:avLst/>
          </a:prstGeom>
          <a:noFill/>
          <a:ln/>
        </p:spPr>
        <p:txBody>
          <a:bodyPr wrap="square" lIns="0" tIns="0" rIns="0" bIns="0" rtlCol="0" anchor="ctr">
            <a:normAutofit/>
          </a:bodyPr>
          <a:lstStyle/>
          <a:p>
            <a:pPr indent="0" marL="0">
              <a:buNone/>
            </a:pPr>
            <a:r>
              <a:rPr lang="en-US" sz="2400" b="1" dirty="0">
                <a:solidFill>
                  <a:srgbClr val="082338"/>
                </a:solidFill>
                <a:latin typeface="Aptos Display" pitchFamily="34" charset="0"/>
                <a:ea typeface="Aptos Display" pitchFamily="34" charset="-122"/>
                <a:cs typeface="Aptos Display" pitchFamily="34" charset="-120"/>
              </a:rPr>
              <a:t>Reflection and commitment</a:t>
            </a:r>
            <a:endParaRPr lang="en-US" sz="2400" dirty="0"/>
          </a:p>
        </p:txBody>
      </p:sp>
      <p:sp>
        <p:nvSpPr>
          <p:cNvPr id="4" name="Text 2"/>
          <p:cNvSpPr/>
          <p:nvPr/>
        </p:nvSpPr>
        <p:spPr>
          <a:xfrm>
            <a:off x="594360" y="6547104"/>
            <a:ext cx="2743200" cy="164592"/>
          </a:xfrm>
          <a:prstGeom prst="rect">
            <a:avLst/>
          </a:prstGeom>
          <a:noFill/>
          <a:ln/>
        </p:spPr>
        <p:txBody>
          <a:bodyPr wrap="square" lIns="0" tIns="0" rIns="0" bIns="0" rtlCol="0" anchor="ctr"/>
          <a:lstStyle/>
          <a:p>
            <a:pPr indent="0" marL="0">
              <a:buNone/>
            </a:pPr>
            <a:r>
              <a:rPr lang="en-US" sz="800" dirty="0">
                <a:solidFill>
                  <a:srgbClr val="616161"/>
                </a:solidFill>
                <a:latin typeface="Aptos" pitchFamily="34" charset="0"/>
                <a:ea typeface="Aptos" pitchFamily="34" charset="-122"/>
                <a:cs typeface="Aptos" pitchFamily="34" charset="-120"/>
              </a:rPr>
              <a:t>AITO  |  Huddle</a:t>
            </a:r>
            <a:endParaRPr lang="en-US" sz="800" dirty="0"/>
          </a:p>
        </p:txBody>
      </p:sp>
      <p:sp>
        <p:nvSpPr>
          <p:cNvPr id="5" name="Shape 3"/>
          <p:cNvSpPr/>
          <p:nvPr/>
        </p:nvSpPr>
        <p:spPr>
          <a:xfrm>
            <a:off x="640080" y="1417320"/>
            <a:ext cx="10908792" cy="1965960"/>
          </a:xfrm>
          <a:prstGeom prst="roundRect">
            <a:avLst>
              <a:gd name="adj" fmla="val 2791"/>
            </a:avLst>
          </a:prstGeom>
          <a:solidFill>
            <a:srgbClr val="F5F9FF"/>
          </a:solidFill>
          <a:ln w="8890">
            <a:solidFill>
              <a:srgbClr val="D1D1D1"/>
            </a:solidFill>
            <a:prstDash val="solid"/>
          </a:ln>
        </p:spPr>
      </p:sp>
      <p:sp>
        <p:nvSpPr>
          <p:cNvPr id="6" name="Text 4"/>
          <p:cNvSpPr/>
          <p:nvPr/>
        </p:nvSpPr>
        <p:spPr>
          <a:xfrm>
            <a:off x="868680" y="1581912"/>
            <a:ext cx="10424160" cy="228600"/>
          </a:xfrm>
          <a:prstGeom prst="rect">
            <a:avLst/>
          </a:prstGeom>
          <a:noFill/>
          <a:ln/>
        </p:spPr>
        <p:txBody>
          <a:bodyPr wrap="square" lIns="0" tIns="0" rIns="0" bIns="0" rtlCol="0" anchor="ctr"/>
          <a:lstStyle/>
          <a:p>
            <a:pPr indent="0" marL="0">
              <a:buNone/>
            </a:pPr>
            <a:r>
              <a:rPr lang="en-US" sz="900" b="1" dirty="0">
                <a:solidFill>
                  <a:srgbClr val="0F6CBD"/>
                </a:solidFill>
                <a:latin typeface="Aptos" pitchFamily="34" charset="0"/>
                <a:ea typeface="Aptos" pitchFamily="34" charset="-122"/>
                <a:cs typeface="Aptos" pitchFamily="34" charset="-120"/>
              </a:rPr>
              <a:t>REFLECTION</a:t>
            </a:r>
            <a:endParaRPr lang="en-US" sz="900" dirty="0"/>
          </a:p>
        </p:txBody>
      </p:sp>
      <p:sp>
        <p:nvSpPr>
          <p:cNvPr id="7" name="Text 5"/>
          <p:cNvSpPr/>
          <p:nvPr/>
        </p:nvSpPr>
        <p:spPr>
          <a:xfrm>
            <a:off x="868680" y="1892808"/>
            <a:ext cx="10378440" cy="1344168"/>
          </a:xfrm>
          <a:prstGeom prst="rect">
            <a:avLst/>
          </a:prstGeom>
          <a:noFill/>
          <a:ln/>
        </p:spPr>
        <p:txBody>
          <a:bodyPr wrap="square" lIns="0" tIns="0" rIns="0" bIns="0" rtlCol="0" anchor="t">
            <a:normAutofit/>
          </a:bodyPr>
          <a:lstStyle/>
          <a:p>
            <a:pPr indent="0" marL="0">
              <a:buNone/>
            </a:pPr>
            <a:r>
              <a:rPr lang="en-US" sz="1300" dirty="0">
                <a:solidFill>
                  <a:srgbClr val="242424"/>
                </a:solidFill>
                <a:latin typeface="Aptos" pitchFamily="34" charset="0"/>
                <a:ea typeface="Aptos" pitchFamily="34" charset="-122"/>
                <a:cs typeface="Aptos" pitchFamily="34" charset="-120"/>
              </a:rPr>
              <a:t>What changed in your understanding?</a:t>
            </a:r>
            <a:endParaRPr lang="en-US" sz="1300" dirty="0"/>
          </a:p>
        </p:txBody>
      </p:sp>
      <p:sp>
        <p:nvSpPr>
          <p:cNvPr id="8" name="Shape 6"/>
          <p:cNvSpPr/>
          <p:nvPr/>
        </p:nvSpPr>
        <p:spPr>
          <a:xfrm>
            <a:off x="640080" y="3657600"/>
            <a:ext cx="10908792" cy="1965960"/>
          </a:xfrm>
          <a:prstGeom prst="roundRect">
            <a:avLst>
              <a:gd name="adj" fmla="val 2791"/>
            </a:avLst>
          </a:prstGeom>
          <a:solidFill>
            <a:srgbClr val="F5F9FF"/>
          </a:solidFill>
          <a:ln w="8890">
            <a:solidFill>
              <a:srgbClr val="D1D1D1"/>
            </a:solidFill>
            <a:prstDash val="solid"/>
          </a:ln>
        </p:spPr>
      </p:sp>
      <p:sp>
        <p:nvSpPr>
          <p:cNvPr id="9" name="Text 7"/>
          <p:cNvSpPr/>
          <p:nvPr/>
        </p:nvSpPr>
        <p:spPr>
          <a:xfrm>
            <a:off x="868680" y="3822192"/>
            <a:ext cx="10424160" cy="228600"/>
          </a:xfrm>
          <a:prstGeom prst="rect">
            <a:avLst/>
          </a:prstGeom>
          <a:noFill/>
          <a:ln/>
        </p:spPr>
        <p:txBody>
          <a:bodyPr wrap="square" lIns="0" tIns="0" rIns="0" bIns="0" rtlCol="0" anchor="ctr"/>
          <a:lstStyle/>
          <a:p>
            <a:pPr indent="0" marL="0">
              <a:buNone/>
            </a:pPr>
            <a:r>
              <a:rPr lang="en-US" sz="900" b="1" dirty="0">
                <a:solidFill>
                  <a:srgbClr val="0F6CBD"/>
                </a:solidFill>
                <a:latin typeface="Aptos" pitchFamily="34" charset="0"/>
                <a:ea typeface="Aptos" pitchFamily="34" charset="-122"/>
                <a:cs typeface="Aptos" pitchFamily="34" charset="-120"/>
              </a:rPr>
              <a:t>COMMITMENT</a:t>
            </a:r>
            <a:endParaRPr lang="en-US" sz="900" dirty="0"/>
          </a:p>
        </p:txBody>
      </p:sp>
      <p:sp>
        <p:nvSpPr>
          <p:cNvPr id="10" name="Text 8"/>
          <p:cNvSpPr/>
          <p:nvPr/>
        </p:nvSpPr>
        <p:spPr>
          <a:xfrm>
            <a:off x="868680" y="4133088"/>
            <a:ext cx="10378440" cy="1344168"/>
          </a:xfrm>
          <a:prstGeom prst="rect">
            <a:avLst/>
          </a:prstGeom>
          <a:noFill/>
          <a:ln/>
        </p:spPr>
        <p:txBody>
          <a:bodyPr wrap="square" lIns="0" tIns="0" rIns="0" bIns="0" rtlCol="0" anchor="t">
            <a:normAutofit/>
          </a:bodyPr>
          <a:lstStyle/>
          <a:p>
            <a:pPr indent="0" marL="0">
              <a:buNone/>
            </a:pPr>
            <a:r>
              <a:rPr lang="en-US" sz="1300" dirty="0">
                <a:solidFill>
                  <a:srgbClr val="242424"/>
                </a:solidFill>
                <a:latin typeface="Aptos" pitchFamily="34" charset="0"/>
                <a:ea typeface="Aptos" pitchFamily="34" charset="-122"/>
                <a:cs typeface="Aptos" pitchFamily="34" charset="-120"/>
              </a:rPr>
              <a:t>What will you do next?</a:t>
            </a:r>
            <a:endParaRPr lang="en-US" sz="13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ptos Display"/>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14</Slides>
  <Notes>14</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14</vt:i4>
      </vt:variant>
    </vt:vector>
  </HeadingPairs>
  <TitlesOfParts>
    <vt:vector size="17"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vector>
  </TitlesOfParts>
  <Company>AITO</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Accelerate a Strategic Deal Huddle</dc:title>
  <dc:subject>Accelerate a Strategic Deal</dc:subject>
  <dc:creator>AITO</dc:creator>
  <cp:lastModifiedBy>AITO</cp:lastModifiedBy>
  <cp:revision>1</cp:revision>
  <dcterms:created xsi:type="dcterms:W3CDTF">2026-09-22T11:07:02Z</dcterms:created>
  <dcterms:modified xsi:type="dcterms:W3CDTF">2026-09-22T11:07:02Z</dcterms:modified>
</cp:coreProperties>
</file>