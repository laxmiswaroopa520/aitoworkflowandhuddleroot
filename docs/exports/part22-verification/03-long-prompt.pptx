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example.com/playbook"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338"/>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F6CBD"/>
          </a:solidFill>
          <a:ln w="12700">
            <a:solidFill>
              <a:srgbClr val="0F6CBD"/>
            </a:solidFill>
            <a:prstDash val="solid"/>
          </a:ln>
        </p:spPr>
      </p:sp>
      <p:sp>
        <p:nvSpPr>
          <p:cNvPr id="3" name="Text 1"/>
          <p:cNvSpPr/>
          <p:nvPr/>
        </p:nvSpPr>
        <p:spPr>
          <a:xfrm>
            <a:off x="731520" y="594360"/>
            <a:ext cx="3657600" cy="274320"/>
          </a:xfrm>
          <a:prstGeom prst="rect">
            <a:avLst/>
          </a:prstGeom>
          <a:noFill/>
          <a:ln/>
        </p:spPr>
        <p:txBody>
          <a:bodyPr wrap="square" lIns="0" tIns="0" rIns="0" bIns="0" rtlCol="0" anchor="ctr"/>
          <a:lstStyle/>
          <a:p>
            <a:pPr indent="0" marL="0">
              <a:buNone/>
            </a:pPr>
            <a:r>
              <a:rPr lang="en-US" sz="1200" b="1" spc="200" kern="0" dirty="0">
                <a:solidFill>
                  <a:srgbClr val="72D8FF"/>
                </a:solidFill>
                <a:latin typeface="Aptos" pitchFamily="34" charset="0"/>
                <a:ea typeface="Aptos" pitchFamily="34" charset="-122"/>
                <a:cs typeface="Aptos" pitchFamily="34" charset="-120"/>
              </a:rPr>
              <a:t>AITO HUDDLE</a:t>
            </a:r>
            <a:endParaRPr lang="en-US" sz="1200" dirty="0"/>
          </a:p>
        </p:txBody>
      </p:sp>
      <p:sp>
        <p:nvSpPr>
          <p:cNvPr id="4" name="Text 2"/>
          <p:cNvSpPr/>
          <p:nvPr/>
        </p:nvSpPr>
        <p:spPr>
          <a:xfrm>
            <a:off x="731520" y="1234440"/>
            <a:ext cx="9966960" cy="155448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Accelerate a Strategic Deal</a:t>
            </a:r>
            <a:endParaRPr lang="en-US" sz="3200" dirty="0"/>
          </a:p>
        </p:txBody>
      </p:sp>
      <p:sp>
        <p:nvSpPr>
          <p:cNvPr id="5" name="Text 3"/>
          <p:cNvSpPr/>
          <p:nvPr/>
        </p:nvSpPr>
        <p:spPr>
          <a:xfrm>
            <a:off x="749808" y="2926080"/>
            <a:ext cx="9509760" cy="960120"/>
          </a:xfrm>
          <a:prstGeom prst="rect">
            <a:avLst/>
          </a:prstGeom>
          <a:noFill/>
          <a:ln/>
        </p:spPr>
        <p:txBody>
          <a:bodyPr wrap="square" lIns="0" tIns="0" rIns="0" bIns="0" rtlCol="0" anchor="ctr">
            <a:normAutofit/>
          </a:bodyPr>
          <a:lstStyle/>
          <a:p>
            <a:pPr indent="0" marL="0">
              <a:buNone/>
            </a:pPr>
            <a:r>
              <a:rPr lang="en-US" sz="1800" dirty="0">
                <a:solidFill>
                  <a:srgbClr val="DDEBF7"/>
                </a:solidFill>
                <a:latin typeface="Aptos" pitchFamily="34" charset="0"/>
                <a:ea typeface="Aptos" pitchFamily="34" charset="-122"/>
                <a:cs typeface="Aptos" pitchFamily="34" charset="-120"/>
              </a:rPr>
              <a:t>Apply AI to prepare a grounded, decision-ready deal review.</a:t>
            </a:r>
            <a:endParaRPr lang="en-US" sz="1800" dirty="0"/>
          </a:p>
        </p:txBody>
      </p:sp>
      <p:sp>
        <p:nvSpPr>
          <p:cNvPr id="6" name="Text 4"/>
          <p:cNvSpPr/>
          <p:nvPr/>
        </p:nvSpPr>
        <p:spPr>
          <a:xfrm>
            <a:off x="749808" y="5074920"/>
            <a:ext cx="9875520" cy="365760"/>
          </a:xfrm>
          <a:prstGeom prst="rect">
            <a:avLst/>
          </a:prstGeom>
          <a:noFill/>
          <a:ln/>
        </p:spPr>
        <p:txBody>
          <a:bodyPr wrap="square" lIns="0" tIns="0" rIns="0" bIns="0" rtlCol="0" anchor="ctr">
            <a:normAutofit/>
          </a:bodyPr>
          <a:lstStyle/>
          <a:p>
            <a:pPr indent="0" marL="0">
              <a:buNone/>
            </a:pPr>
            <a:r>
              <a:rPr lang="en-US" sz="1400" dirty="0">
                <a:solidFill>
                  <a:srgbClr val="FFFFFF"/>
                </a:solidFill>
                <a:latin typeface="Aptos" pitchFamily="34" charset="0"/>
                <a:ea typeface="Aptos" pitchFamily="34" charset="-122"/>
                <a:cs typeface="Aptos" pitchFamily="34" charset="-120"/>
              </a:rPr>
              <a:t>Prescriptive  •  Seller  •  30 minutes</a:t>
            </a:r>
            <a:endParaRPr lang="en-US" sz="1400" dirty="0"/>
          </a:p>
        </p:txBody>
      </p:sp>
      <p:sp>
        <p:nvSpPr>
          <p:cNvPr id="7" name="Shape 5"/>
          <p:cNvSpPr/>
          <p:nvPr/>
        </p:nvSpPr>
        <p:spPr>
          <a:xfrm>
            <a:off x="10012680" y="4846320"/>
            <a:ext cx="1325880" cy="1325880"/>
          </a:xfrm>
          <a:prstGeom prst="roundRect">
            <a:avLst>
              <a:gd name="adj" fmla="val 5517"/>
            </a:avLst>
          </a:prstGeom>
          <a:solidFill>
            <a:srgbClr val="0F6CBD"/>
          </a:solidFill>
          <a:ln w="12700">
            <a:solidFill>
              <a:srgbClr val="0F6CBD"/>
            </a:solidFill>
            <a:prstDash val="solid"/>
          </a:ln>
        </p:spPr>
      </p:sp>
      <p:sp>
        <p:nvSpPr>
          <p:cNvPr id="8" name="Text 6"/>
          <p:cNvSpPr/>
          <p:nvPr/>
        </p:nvSpPr>
        <p:spPr>
          <a:xfrm>
            <a:off x="10222992" y="5138928"/>
            <a:ext cx="91440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Aptos Display" pitchFamily="34" charset="0"/>
                <a:ea typeface="Aptos Display" pitchFamily="34" charset="-122"/>
                <a:cs typeface="Aptos Display" pitchFamily="34" charset="-120"/>
              </a:rPr>
              <a:t>AI</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CBD"/>
          </a:solidFill>
          <a:ln w="12700">
            <a:solidFill>
              <a:srgbClr val="0F6CBD"/>
            </a:solidFill>
            <a:prstDash val="solid"/>
          </a:ln>
        </p:spPr>
      </p:sp>
      <p:sp>
        <p:nvSpPr>
          <p:cNvPr id="3" name="Text 1"/>
          <p:cNvSpPr/>
          <p:nvPr/>
        </p:nvSpPr>
        <p:spPr>
          <a:xfrm>
            <a:off x="594360" y="347472"/>
            <a:ext cx="10881360" cy="438912"/>
          </a:xfrm>
          <a:prstGeom prst="rect">
            <a:avLst/>
          </a:prstGeom>
          <a:noFill/>
          <a:ln/>
        </p:spPr>
        <p:txBody>
          <a:bodyPr wrap="square" lIns="0" tIns="0" rIns="0" bIns="0" rtlCol="0" anchor="ctr">
            <a:normAutofit/>
          </a:bodyPr>
          <a:lstStyle/>
          <a:p>
            <a:pPr indent="0" marL="0">
              <a:buNone/>
            </a:pPr>
            <a:r>
              <a:rPr lang="en-US" sz="2400" b="1" dirty="0">
                <a:solidFill>
                  <a:srgbClr val="082338"/>
                </a:solidFill>
                <a:latin typeface="Aptos Display" pitchFamily="34" charset="0"/>
                <a:ea typeface="Aptos Display" pitchFamily="34" charset="-122"/>
                <a:cs typeface="Aptos Display" pitchFamily="34" charset="-120"/>
              </a:rPr>
              <a:t>Huddle context</a:t>
            </a:r>
            <a:endParaRPr lang="en-US" sz="2400" dirty="0"/>
          </a:p>
        </p:txBody>
      </p:sp>
      <p:sp>
        <p:nvSpPr>
          <p:cNvPr id="4" name="Text 2"/>
          <p:cNvSpPr/>
          <p:nvPr/>
        </p:nvSpPr>
        <p:spPr>
          <a:xfrm>
            <a:off x="612648" y="841248"/>
            <a:ext cx="10789920" cy="274320"/>
          </a:xfrm>
          <a:prstGeom prst="rect">
            <a:avLst/>
          </a:prstGeom>
          <a:noFill/>
          <a:ln/>
        </p:spPr>
        <p:txBody>
          <a:bodyPr wrap="square" lIns="0" tIns="0" rIns="0" bIns="0" rtlCol="0" anchor="ctr">
            <a:normAutofit/>
          </a:bodyPr>
          <a:lstStyle/>
          <a:p>
            <a:pPr indent="0" marL="0">
              <a:buNone/>
            </a:pPr>
            <a:r>
              <a:rPr lang="en-US" sz="1050" dirty="0">
                <a:solidFill>
                  <a:srgbClr val="616161"/>
                </a:solidFill>
                <a:latin typeface="Aptos" pitchFamily="34" charset="0"/>
                <a:ea typeface="Aptos" pitchFamily="34" charset="-122"/>
                <a:cs typeface="Aptos" pitchFamily="34" charset="-120"/>
              </a:rPr>
              <a:t>Seller</a:t>
            </a:r>
            <a:endParaRPr lang="en-US" sz="1050" dirty="0"/>
          </a:p>
        </p:txBody>
      </p:sp>
      <p:sp>
        <p:nvSpPr>
          <p:cNvPr id="5" name="Text 3"/>
          <p:cNvSpPr/>
          <p:nvPr/>
        </p:nvSpPr>
        <p:spPr>
          <a:xfrm>
            <a:off x="594360" y="6547104"/>
            <a:ext cx="2743200" cy="164592"/>
          </a:xfrm>
          <a:prstGeom prst="rect">
            <a:avLst/>
          </a:prstGeom>
          <a:noFill/>
          <a:ln/>
        </p:spPr>
        <p:txBody>
          <a:bodyPr wrap="square" lIns="0" tIns="0" rIns="0" bIns="0" rtlCol="0" anchor="ctr"/>
          <a:lstStyle/>
          <a:p>
            <a:pPr indent="0" marL="0">
              <a:buNone/>
            </a:pPr>
            <a:r>
              <a:rPr lang="en-US" sz="800" dirty="0">
                <a:solidFill>
                  <a:srgbClr val="616161"/>
                </a:solidFill>
                <a:latin typeface="Aptos" pitchFamily="34" charset="0"/>
                <a:ea typeface="Aptos" pitchFamily="34" charset="-122"/>
                <a:cs typeface="Aptos" pitchFamily="34" charset="-120"/>
              </a:rPr>
              <a:t>AITO  |  Huddle</a:t>
            </a:r>
            <a:endParaRPr lang="en-US" sz="800" dirty="0"/>
          </a:p>
        </p:txBody>
      </p:sp>
      <p:sp>
        <p:nvSpPr>
          <p:cNvPr id="6" name="Shape 4"/>
          <p:cNvSpPr/>
          <p:nvPr/>
        </p:nvSpPr>
        <p:spPr>
          <a:xfrm>
            <a:off x="640080" y="1234440"/>
            <a:ext cx="10908792" cy="1143000"/>
          </a:xfrm>
          <a:prstGeom prst="roundRect">
            <a:avLst>
              <a:gd name="adj" fmla="val 4800"/>
            </a:avLst>
          </a:prstGeom>
          <a:solidFill>
            <a:srgbClr val="F5F9FF"/>
          </a:solidFill>
          <a:ln w="8890">
            <a:solidFill>
              <a:srgbClr val="D1D1D1"/>
            </a:solidFill>
            <a:prstDash val="solid"/>
          </a:ln>
        </p:spPr>
      </p:sp>
      <p:sp>
        <p:nvSpPr>
          <p:cNvPr id="7" name="Text 5"/>
          <p:cNvSpPr/>
          <p:nvPr/>
        </p:nvSpPr>
        <p:spPr>
          <a:xfrm>
            <a:off x="868680" y="139903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TODAY'S OBJECTIVE</a:t>
            </a:r>
            <a:endParaRPr lang="en-US" sz="900" dirty="0"/>
          </a:p>
        </p:txBody>
      </p:sp>
      <p:sp>
        <p:nvSpPr>
          <p:cNvPr id="8" name="Text 6"/>
          <p:cNvSpPr/>
          <p:nvPr/>
        </p:nvSpPr>
        <p:spPr>
          <a:xfrm>
            <a:off x="868680" y="1709928"/>
            <a:ext cx="10378440" cy="52120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Prepare a concise deal inspection.</a:t>
            </a:r>
            <a:endParaRPr lang="en-US" sz="1300" dirty="0"/>
          </a:p>
        </p:txBody>
      </p:sp>
      <p:sp>
        <p:nvSpPr>
          <p:cNvPr id="9" name="Shape 7"/>
          <p:cNvSpPr/>
          <p:nvPr/>
        </p:nvSpPr>
        <p:spPr>
          <a:xfrm>
            <a:off x="640080" y="2487168"/>
            <a:ext cx="10908792" cy="1143000"/>
          </a:xfrm>
          <a:prstGeom prst="roundRect">
            <a:avLst>
              <a:gd name="adj" fmla="val 4800"/>
            </a:avLst>
          </a:prstGeom>
          <a:solidFill>
            <a:srgbClr val="F5F9FF"/>
          </a:solidFill>
          <a:ln w="8890">
            <a:solidFill>
              <a:srgbClr val="D1D1D1"/>
            </a:solidFill>
            <a:prstDash val="solid"/>
          </a:ln>
        </p:spPr>
      </p:sp>
      <p:sp>
        <p:nvSpPr>
          <p:cNvPr id="10" name="Text 8"/>
          <p:cNvSpPr/>
          <p:nvPr/>
        </p:nvSpPr>
        <p:spPr>
          <a:xfrm>
            <a:off x="868680" y="2651760"/>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USE CASE</a:t>
            </a:r>
            <a:endParaRPr lang="en-US" sz="900" dirty="0"/>
          </a:p>
        </p:txBody>
      </p:sp>
      <p:sp>
        <p:nvSpPr>
          <p:cNvPr id="11" name="Text 9"/>
          <p:cNvSpPr/>
          <p:nvPr/>
        </p:nvSpPr>
        <p:spPr>
          <a:xfrm>
            <a:off x="868680" y="2962656"/>
            <a:ext cx="10378440" cy="52120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A priority opportunity needs alignment.</a:t>
            </a:r>
            <a:endParaRPr lang="en-US" sz="1300" dirty="0"/>
          </a:p>
        </p:txBody>
      </p:sp>
      <p:sp>
        <p:nvSpPr>
          <p:cNvPr id="12" name="Shape 10"/>
          <p:cNvSpPr/>
          <p:nvPr/>
        </p:nvSpPr>
        <p:spPr>
          <a:xfrm>
            <a:off x="640080" y="3739896"/>
            <a:ext cx="10908792" cy="1143000"/>
          </a:xfrm>
          <a:prstGeom prst="roundRect">
            <a:avLst>
              <a:gd name="adj" fmla="val 4800"/>
            </a:avLst>
          </a:prstGeom>
          <a:solidFill>
            <a:srgbClr val="F5F9FF"/>
          </a:solidFill>
          <a:ln w="8890">
            <a:solidFill>
              <a:srgbClr val="D1D1D1"/>
            </a:solidFill>
            <a:prstDash val="solid"/>
          </a:ln>
        </p:spPr>
      </p:sp>
      <p:sp>
        <p:nvSpPr>
          <p:cNvPr id="13" name="Text 11"/>
          <p:cNvSpPr/>
          <p:nvPr/>
        </p:nvSpPr>
        <p:spPr>
          <a:xfrm>
            <a:off x="868680" y="3904488"/>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WHY IT MATTERS</a:t>
            </a:r>
            <a:endParaRPr lang="en-US" sz="900" dirty="0"/>
          </a:p>
        </p:txBody>
      </p:sp>
      <p:sp>
        <p:nvSpPr>
          <p:cNvPr id="14" name="Text 12"/>
          <p:cNvSpPr/>
          <p:nvPr/>
        </p:nvSpPr>
        <p:spPr>
          <a:xfrm>
            <a:off x="868680" y="4215384"/>
            <a:ext cx="10378440" cy="52120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Focused preparation improves decision quality.</a:t>
            </a:r>
            <a:endParaRPr lang="en-US" sz="1300" dirty="0"/>
          </a:p>
        </p:txBody>
      </p:sp>
      <p:sp>
        <p:nvSpPr>
          <p:cNvPr id="15" name="Shape 13"/>
          <p:cNvSpPr/>
          <p:nvPr/>
        </p:nvSpPr>
        <p:spPr>
          <a:xfrm>
            <a:off x="640080" y="4992624"/>
            <a:ext cx="10908792" cy="1143000"/>
          </a:xfrm>
          <a:prstGeom prst="roundRect">
            <a:avLst>
              <a:gd name="adj" fmla="val 4800"/>
            </a:avLst>
          </a:prstGeom>
          <a:solidFill>
            <a:srgbClr val="F5F9FF"/>
          </a:solidFill>
          <a:ln w="8890">
            <a:solidFill>
              <a:srgbClr val="D1D1D1"/>
            </a:solidFill>
            <a:prstDash val="solid"/>
          </a:ln>
        </p:spPr>
      </p:sp>
      <p:sp>
        <p:nvSpPr>
          <p:cNvPr id="16" name="Text 14"/>
          <p:cNvSpPr/>
          <p:nvPr/>
        </p:nvSpPr>
        <p:spPr>
          <a:xfrm>
            <a:off x="868680" y="5157216"/>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DESIRED OUTCOME</a:t>
            </a:r>
            <a:endParaRPr lang="en-US" sz="900" dirty="0"/>
          </a:p>
        </p:txBody>
      </p:sp>
      <p:sp>
        <p:nvSpPr>
          <p:cNvPr id="17" name="Text 15"/>
          <p:cNvSpPr/>
          <p:nvPr/>
        </p:nvSpPr>
        <p:spPr>
          <a:xfrm>
            <a:off x="868680" y="5468112"/>
            <a:ext cx="10378440" cy="52120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An agreed action plan.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CBD"/>
          </a:solidFill>
          <a:ln w="12700">
            <a:solidFill>
              <a:srgbClr val="0F6CBD"/>
            </a:solidFill>
            <a:prstDash val="solid"/>
          </a:ln>
        </p:spPr>
      </p:sp>
      <p:sp>
        <p:nvSpPr>
          <p:cNvPr id="3" name="Text 1"/>
          <p:cNvSpPr/>
          <p:nvPr/>
        </p:nvSpPr>
        <p:spPr>
          <a:xfrm>
            <a:off x="594360" y="347472"/>
            <a:ext cx="10881360" cy="438912"/>
          </a:xfrm>
          <a:prstGeom prst="rect">
            <a:avLst/>
          </a:prstGeom>
          <a:noFill/>
          <a:ln/>
        </p:spPr>
        <p:txBody>
          <a:bodyPr wrap="square" lIns="0" tIns="0" rIns="0" bIns="0" rtlCol="0" anchor="ctr">
            <a:normAutofit/>
          </a:bodyPr>
          <a:lstStyle/>
          <a:p>
            <a:pPr indent="0" marL="0">
              <a:buNone/>
            </a:pPr>
            <a:r>
              <a:rPr lang="en-US" sz="2400" b="1" dirty="0">
                <a:solidFill>
                  <a:srgbClr val="082338"/>
                </a:solidFill>
                <a:latin typeface="Aptos Display" pitchFamily="34" charset="0"/>
                <a:ea typeface="Aptos Display" pitchFamily="34" charset="-122"/>
                <a:cs typeface="Aptos Display" pitchFamily="34" charset="-120"/>
              </a:rPr>
              <a:t>AI tools and MCEM alignment</a:t>
            </a:r>
            <a:endParaRPr lang="en-US" sz="2400" dirty="0"/>
          </a:p>
        </p:txBody>
      </p:sp>
      <p:sp>
        <p:nvSpPr>
          <p:cNvPr id="4" name="Text 2"/>
          <p:cNvSpPr/>
          <p:nvPr/>
        </p:nvSpPr>
        <p:spPr>
          <a:xfrm>
            <a:off x="594360" y="6547104"/>
            <a:ext cx="2743200" cy="164592"/>
          </a:xfrm>
          <a:prstGeom prst="rect">
            <a:avLst/>
          </a:prstGeom>
          <a:noFill/>
          <a:ln/>
        </p:spPr>
        <p:txBody>
          <a:bodyPr wrap="square" lIns="0" tIns="0" rIns="0" bIns="0" rtlCol="0" anchor="ctr"/>
          <a:lstStyle/>
          <a:p>
            <a:pPr indent="0" marL="0">
              <a:buNone/>
            </a:pPr>
            <a:r>
              <a:rPr lang="en-US" sz="800" dirty="0">
                <a:solidFill>
                  <a:srgbClr val="616161"/>
                </a:solidFill>
                <a:latin typeface="Aptos" pitchFamily="34" charset="0"/>
                <a:ea typeface="Aptos" pitchFamily="34" charset="-122"/>
                <a:cs typeface="Aptos" pitchFamily="34" charset="-120"/>
              </a:rPr>
              <a:t>AITO  |  Huddle</a:t>
            </a:r>
            <a:endParaRPr lang="en-US" sz="800" dirty="0"/>
          </a:p>
        </p:txBody>
      </p:sp>
      <p:sp>
        <p:nvSpPr>
          <p:cNvPr id="5" name="Shape 3"/>
          <p:cNvSpPr/>
          <p:nvPr/>
        </p:nvSpPr>
        <p:spPr>
          <a:xfrm>
            <a:off x="640080" y="1325880"/>
            <a:ext cx="10908792" cy="1298448"/>
          </a:xfrm>
          <a:prstGeom prst="roundRect">
            <a:avLst>
              <a:gd name="adj" fmla="val 4225"/>
            </a:avLst>
          </a:prstGeom>
          <a:solidFill>
            <a:srgbClr val="F5F9FF"/>
          </a:solidFill>
          <a:ln w="8890">
            <a:solidFill>
              <a:srgbClr val="D1D1D1"/>
            </a:solidFill>
            <a:prstDash val="solid"/>
          </a:ln>
        </p:spPr>
      </p:sp>
      <p:sp>
        <p:nvSpPr>
          <p:cNvPr id="6" name="Text 4"/>
          <p:cNvSpPr/>
          <p:nvPr/>
        </p:nvSpPr>
        <p:spPr>
          <a:xfrm>
            <a:off x="868680" y="149047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PRIMARY AI TOOLS</a:t>
            </a:r>
            <a:endParaRPr lang="en-US" sz="900" dirty="0"/>
          </a:p>
        </p:txBody>
      </p:sp>
      <p:sp>
        <p:nvSpPr>
          <p:cNvPr id="7" name="Text 5"/>
          <p:cNvSpPr/>
          <p:nvPr/>
        </p:nvSpPr>
        <p:spPr>
          <a:xfrm>
            <a:off x="868680" y="1801368"/>
            <a:ext cx="10378440" cy="676656"/>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Copilot</a:t>
            </a:r>
            <a:endParaRPr lang="en-US" sz="1300" dirty="0"/>
          </a:p>
        </p:txBody>
      </p:sp>
      <p:sp>
        <p:nvSpPr>
          <p:cNvPr id="8" name="Shape 6"/>
          <p:cNvSpPr/>
          <p:nvPr/>
        </p:nvSpPr>
        <p:spPr>
          <a:xfrm>
            <a:off x="640080" y="2834640"/>
            <a:ext cx="10908792" cy="1298448"/>
          </a:xfrm>
          <a:prstGeom prst="roundRect">
            <a:avLst>
              <a:gd name="adj" fmla="val 4225"/>
            </a:avLst>
          </a:prstGeom>
          <a:solidFill>
            <a:srgbClr val="F5F9FF"/>
          </a:solidFill>
          <a:ln w="8890">
            <a:solidFill>
              <a:srgbClr val="D1D1D1"/>
            </a:solidFill>
            <a:prstDash val="solid"/>
          </a:ln>
        </p:spPr>
      </p:sp>
      <p:sp>
        <p:nvSpPr>
          <p:cNvPr id="9" name="Text 7"/>
          <p:cNvSpPr/>
          <p:nvPr/>
        </p:nvSpPr>
        <p:spPr>
          <a:xfrm>
            <a:off x="868680" y="299923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SECONDARY AI TOOLS</a:t>
            </a:r>
            <a:endParaRPr lang="en-US" sz="900" dirty="0"/>
          </a:p>
        </p:txBody>
      </p:sp>
      <p:sp>
        <p:nvSpPr>
          <p:cNvPr id="10" name="Text 8"/>
          <p:cNvSpPr/>
          <p:nvPr/>
        </p:nvSpPr>
        <p:spPr>
          <a:xfrm>
            <a:off x="868680" y="3310128"/>
            <a:ext cx="10378440" cy="676656"/>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Researcher</a:t>
            </a:r>
            <a:endParaRPr lang="en-US" sz="1300" dirty="0"/>
          </a:p>
        </p:txBody>
      </p:sp>
      <p:sp>
        <p:nvSpPr>
          <p:cNvPr id="11" name="Shape 9"/>
          <p:cNvSpPr/>
          <p:nvPr/>
        </p:nvSpPr>
        <p:spPr>
          <a:xfrm>
            <a:off x="640080" y="4343400"/>
            <a:ext cx="10908792" cy="1298448"/>
          </a:xfrm>
          <a:prstGeom prst="roundRect">
            <a:avLst>
              <a:gd name="adj" fmla="val 4225"/>
            </a:avLst>
          </a:prstGeom>
          <a:solidFill>
            <a:srgbClr val="F5F9FF"/>
          </a:solidFill>
          <a:ln w="8890">
            <a:solidFill>
              <a:srgbClr val="D1D1D1"/>
            </a:solidFill>
            <a:prstDash val="solid"/>
          </a:ln>
        </p:spPr>
      </p:sp>
      <p:sp>
        <p:nvSpPr>
          <p:cNvPr id="12" name="Text 10"/>
          <p:cNvSpPr/>
          <p:nvPr/>
        </p:nvSpPr>
        <p:spPr>
          <a:xfrm>
            <a:off x="868680" y="450799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MCEM STAGES</a:t>
            </a:r>
            <a:endParaRPr lang="en-US" sz="900" dirty="0"/>
          </a:p>
        </p:txBody>
      </p:sp>
      <p:sp>
        <p:nvSpPr>
          <p:cNvPr id="13" name="Text 11"/>
          <p:cNvSpPr/>
          <p:nvPr/>
        </p:nvSpPr>
        <p:spPr>
          <a:xfrm>
            <a:off x="868680" y="4818888"/>
            <a:ext cx="10378440" cy="676656"/>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Inspire and Design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CBD"/>
          </a:solidFill>
          <a:ln w="12700">
            <a:solidFill>
              <a:srgbClr val="0F6CBD"/>
            </a:solidFill>
            <a:prstDash val="solid"/>
          </a:ln>
        </p:spPr>
      </p:sp>
      <p:sp>
        <p:nvSpPr>
          <p:cNvPr id="3" name="Text 1"/>
          <p:cNvSpPr/>
          <p:nvPr/>
        </p:nvSpPr>
        <p:spPr>
          <a:xfrm>
            <a:off x="594360" y="347472"/>
            <a:ext cx="10881360" cy="438912"/>
          </a:xfrm>
          <a:prstGeom prst="rect">
            <a:avLst/>
          </a:prstGeom>
          <a:noFill/>
          <a:ln/>
        </p:spPr>
        <p:txBody>
          <a:bodyPr wrap="square" lIns="0" tIns="0" rIns="0" bIns="0" rtlCol="0" anchor="ctr">
            <a:normAutofit/>
          </a:bodyPr>
          <a:lstStyle/>
          <a:p>
            <a:pPr indent="0" marL="0">
              <a:buNone/>
            </a:pPr>
            <a:r>
              <a:rPr lang="en-US" sz="2400" b="1" dirty="0">
                <a:solidFill>
                  <a:srgbClr val="082338"/>
                </a:solidFill>
                <a:latin typeface="Aptos Display" pitchFamily="34" charset="0"/>
                <a:ea typeface="Aptos Display" pitchFamily="34" charset="-122"/>
                <a:cs typeface="Aptos Display" pitchFamily="34" charset="-120"/>
              </a:rPr>
              <a:t>Huddle flow</a:t>
            </a:r>
            <a:endParaRPr lang="en-US" sz="2400" dirty="0"/>
          </a:p>
        </p:txBody>
      </p:sp>
      <p:sp>
        <p:nvSpPr>
          <p:cNvPr id="4" name="Text 2"/>
          <p:cNvSpPr/>
          <p:nvPr/>
        </p:nvSpPr>
        <p:spPr>
          <a:xfrm>
            <a:off x="612648" y="841248"/>
            <a:ext cx="10789920" cy="274320"/>
          </a:xfrm>
          <a:prstGeom prst="rect">
            <a:avLst/>
          </a:prstGeom>
          <a:noFill/>
          <a:ln/>
        </p:spPr>
        <p:txBody>
          <a:bodyPr wrap="square" lIns="0" tIns="0" rIns="0" bIns="0" rtlCol="0" anchor="ctr">
            <a:normAutofit/>
          </a:bodyPr>
          <a:lstStyle/>
          <a:p>
            <a:pPr indent="0" marL="0">
              <a:buNone/>
            </a:pPr>
            <a:r>
              <a:rPr lang="en-US" sz="1050" dirty="0">
                <a:solidFill>
                  <a:srgbClr val="616161"/>
                </a:solidFill>
                <a:latin typeface="Aptos" pitchFamily="34" charset="0"/>
                <a:ea typeface="Aptos" pitchFamily="34" charset="-122"/>
                <a:cs typeface="Aptos" pitchFamily="34" charset="-120"/>
              </a:rPr>
              <a:t>1 phases • 1 activities</a:t>
            </a:r>
            <a:endParaRPr lang="en-US" sz="1050" dirty="0"/>
          </a:p>
        </p:txBody>
      </p:sp>
      <p:sp>
        <p:nvSpPr>
          <p:cNvPr id="5" name="Text 3"/>
          <p:cNvSpPr/>
          <p:nvPr/>
        </p:nvSpPr>
        <p:spPr>
          <a:xfrm>
            <a:off x="594360" y="6547104"/>
            <a:ext cx="2743200" cy="164592"/>
          </a:xfrm>
          <a:prstGeom prst="rect">
            <a:avLst/>
          </a:prstGeom>
          <a:noFill/>
          <a:ln/>
        </p:spPr>
        <p:txBody>
          <a:bodyPr wrap="square" lIns="0" tIns="0" rIns="0" bIns="0" rtlCol="0" anchor="ctr"/>
          <a:lstStyle/>
          <a:p>
            <a:pPr indent="0" marL="0">
              <a:buNone/>
            </a:pPr>
            <a:r>
              <a:rPr lang="en-US" sz="800" dirty="0">
                <a:solidFill>
                  <a:srgbClr val="616161"/>
                </a:solidFill>
                <a:latin typeface="Aptos" pitchFamily="34" charset="0"/>
                <a:ea typeface="Aptos" pitchFamily="34" charset="-122"/>
                <a:cs typeface="Aptos" pitchFamily="34" charset="-120"/>
              </a:rPr>
              <a:t>AITO  |  Huddle</a:t>
            </a:r>
            <a:endParaRPr lang="en-US" sz="800" dirty="0"/>
          </a:p>
        </p:txBody>
      </p:sp>
      <p:sp>
        <p:nvSpPr>
          <p:cNvPr id="6" name="Shape 4"/>
          <p:cNvSpPr/>
          <p:nvPr/>
        </p:nvSpPr>
        <p:spPr>
          <a:xfrm>
            <a:off x="731520" y="1325880"/>
            <a:ext cx="502920" cy="502920"/>
          </a:xfrm>
          <a:prstGeom prst="ellipse">
            <a:avLst/>
          </a:prstGeom>
          <a:solidFill>
            <a:srgbClr val="0F6CBD"/>
          </a:solidFill>
          <a:ln w="12700">
            <a:solidFill>
              <a:srgbClr val="0F6CBD"/>
            </a:solidFill>
            <a:prstDash val="solid"/>
          </a:ln>
        </p:spPr>
      </p:sp>
      <p:sp>
        <p:nvSpPr>
          <p:cNvPr id="7" name="Text 5"/>
          <p:cNvSpPr/>
          <p:nvPr/>
        </p:nvSpPr>
        <p:spPr>
          <a:xfrm>
            <a:off x="731520" y="1399032"/>
            <a:ext cx="502920" cy="21945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6"/>
          <p:cNvSpPr/>
          <p:nvPr/>
        </p:nvSpPr>
        <p:spPr>
          <a:xfrm>
            <a:off x="1444752" y="1307592"/>
            <a:ext cx="4846320" cy="292608"/>
          </a:xfrm>
          <a:prstGeom prst="rect">
            <a:avLst/>
          </a:prstGeom>
          <a:noFill/>
          <a:ln/>
        </p:spPr>
        <p:txBody>
          <a:bodyPr wrap="square" lIns="0" tIns="0" rIns="0" bIns="0" rtlCol="0" anchor="ctr">
            <a:normAutofit/>
          </a:bodyPr>
          <a:lstStyle/>
          <a:p>
            <a:pPr indent="0" marL="0">
              <a:buNone/>
            </a:pPr>
            <a:r>
              <a:rPr lang="en-US" sz="1600" b="1" dirty="0">
                <a:solidFill>
                  <a:srgbClr val="242424"/>
                </a:solidFill>
              </a:rPr>
              <a:t>Preparation</a:t>
            </a:r>
            <a:endParaRPr lang="en-US" sz="1600" dirty="0"/>
          </a:p>
        </p:txBody>
      </p:sp>
      <p:sp>
        <p:nvSpPr>
          <p:cNvPr id="9" name="Text 7"/>
          <p:cNvSpPr/>
          <p:nvPr/>
        </p:nvSpPr>
        <p:spPr>
          <a:xfrm>
            <a:off x="1444752" y="1636776"/>
            <a:ext cx="4846320" cy="219456"/>
          </a:xfrm>
          <a:prstGeom prst="rect">
            <a:avLst/>
          </a:prstGeom>
          <a:noFill/>
          <a:ln/>
        </p:spPr>
        <p:txBody>
          <a:bodyPr wrap="square" lIns="0" tIns="0" rIns="0" bIns="0" rtlCol="0" anchor="ctr"/>
          <a:lstStyle/>
          <a:p>
            <a:pPr indent="0" marL="0">
              <a:buNone/>
            </a:pPr>
            <a:r>
              <a:rPr lang="en-US" sz="1000" dirty="0">
                <a:solidFill>
                  <a:srgbClr val="616161"/>
                </a:solidFill>
              </a:rPr>
              <a:t>1 activities • 10 min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F"/>
        </a:solidFill>
      </p:bgPr>
    </p:bg>
    <p:spTree>
      <p:nvGrpSpPr>
        <p:cNvPr id="1" name=""/>
        <p:cNvGrpSpPr/>
        <p:nvPr/>
      </p:nvGrpSpPr>
      <p:grpSpPr>
        <a:xfrm>
          <a:off x="0" y="0"/>
          <a:ext cx="0" cy="0"/>
          <a:chOff x="0" y="0"/>
          <a:chExt cx="0" cy="0"/>
        </a:xfrm>
      </p:grpSpPr>
      <p:sp>
        <p:nvSpPr>
          <p:cNvPr id="2" name="Text 0"/>
          <p:cNvSpPr/>
          <p:nvPr/>
        </p:nvSpPr>
        <p:spPr>
          <a:xfrm>
            <a:off x="777240" y="1005840"/>
            <a:ext cx="2286000" cy="274320"/>
          </a:xfrm>
          <a:prstGeom prst="rect">
            <a:avLst/>
          </a:prstGeom>
          <a:noFill/>
          <a:ln/>
        </p:spPr>
        <p:txBody>
          <a:bodyPr wrap="square" lIns="0" tIns="0" rIns="0" bIns="0" rtlCol="0" anchor="ctr"/>
          <a:lstStyle/>
          <a:p>
            <a:pPr indent="0" marL="0">
              <a:buNone/>
            </a:pPr>
            <a:r>
              <a:rPr lang="en-US" sz="1200" b="1" spc="200" kern="0" dirty="0">
                <a:solidFill>
                  <a:srgbClr val="0F6CBD"/>
                </a:solidFill>
              </a:rPr>
              <a:t>PHASE 1</a:t>
            </a:r>
            <a:endParaRPr lang="en-US" sz="1200" dirty="0"/>
          </a:p>
        </p:txBody>
      </p:sp>
      <p:sp>
        <p:nvSpPr>
          <p:cNvPr id="3" name="Text 1"/>
          <p:cNvSpPr/>
          <p:nvPr/>
        </p:nvSpPr>
        <p:spPr>
          <a:xfrm>
            <a:off x="777240" y="1508760"/>
            <a:ext cx="10149840" cy="1097280"/>
          </a:xfrm>
          <a:prstGeom prst="rect">
            <a:avLst/>
          </a:prstGeom>
          <a:noFill/>
          <a:ln/>
        </p:spPr>
        <p:txBody>
          <a:bodyPr wrap="square" lIns="0" tIns="0" rIns="0" bIns="0" rtlCol="0" anchor="ctr">
            <a:normAutofit/>
          </a:bodyPr>
          <a:lstStyle/>
          <a:p>
            <a:pPr indent="0" marL="0">
              <a:buNone/>
            </a:pPr>
            <a:r>
              <a:rPr lang="en-US" sz="3100" b="1" dirty="0">
                <a:solidFill>
                  <a:srgbClr val="082338"/>
                </a:solidFill>
              </a:rPr>
              <a:t>Preparation</a:t>
            </a:r>
            <a:endParaRPr lang="en-US" sz="3100" dirty="0"/>
          </a:p>
        </p:txBody>
      </p:sp>
      <p:sp>
        <p:nvSpPr>
          <p:cNvPr id="4" name="Text 2"/>
          <p:cNvSpPr/>
          <p:nvPr/>
        </p:nvSpPr>
        <p:spPr>
          <a:xfrm>
            <a:off x="804672" y="2788920"/>
            <a:ext cx="9875520" cy="1005840"/>
          </a:xfrm>
          <a:prstGeom prst="rect">
            <a:avLst/>
          </a:prstGeom>
          <a:noFill/>
          <a:ln/>
        </p:spPr>
        <p:txBody>
          <a:bodyPr wrap="square" lIns="0" tIns="0" rIns="0" bIns="0" rtlCol="0" anchor="ctr">
            <a:normAutofit/>
          </a:bodyPr>
          <a:lstStyle/>
          <a:p>
            <a:pPr indent="0" marL="0">
              <a:buNone/>
            </a:pPr>
            <a:r>
              <a:rPr lang="en-US" sz="1700" dirty="0">
                <a:solidFill>
                  <a:srgbClr val="616161"/>
                </a:solidFill>
              </a:rPr>
              <a:t>Ground the Huddle in current evidence.</a:t>
            </a:r>
            <a:endParaRPr lang="en-US" sz="1700" dirty="0"/>
          </a:p>
        </p:txBody>
      </p:sp>
      <p:sp>
        <p:nvSpPr>
          <p:cNvPr id="5" name="Text 3"/>
          <p:cNvSpPr/>
          <p:nvPr/>
        </p:nvSpPr>
        <p:spPr>
          <a:xfrm>
            <a:off x="804672" y="5029200"/>
            <a:ext cx="4572000" cy="365760"/>
          </a:xfrm>
          <a:prstGeom prst="rect">
            <a:avLst/>
          </a:prstGeom>
          <a:noFill/>
          <a:ln/>
        </p:spPr>
        <p:txBody>
          <a:bodyPr wrap="square" lIns="0" tIns="0" rIns="0" bIns="0" rtlCol="0" anchor="ctr"/>
          <a:lstStyle/>
          <a:p>
            <a:pPr indent="0" marL="0">
              <a:buNone/>
            </a:pPr>
            <a:r>
              <a:rPr lang="en-US" sz="1400" b="1" dirty="0">
                <a:solidFill>
                  <a:srgbClr val="0F6CBD"/>
                </a:solidFill>
              </a:rPr>
              <a:t>1 activities  •  10 minutes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CBD"/>
          </a:solidFill>
          <a:ln w="12700">
            <a:solidFill>
              <a:srgbClr val="0F6CBD"/>
            </a:solidFill>
            <a:prstDash val="solid"/>
          </a:ln>
        </p:spPr>
      </p:sp>
      <p:sp>
        <p:nvSpPr>
          <p:cNvPr id="3" name="Text 1"/>
          <p:cNvSpPr/>
          <p:nvPr/>
        </p:nvSpPr>
        <p:spPr>
          <a:xfrm>
            <a:off x="594360" y="347472"/>
            <a:ext cx="10881360" cy="438912"/>
          </a:xfrm>
          <a:prstGeom prst="rect">
            <a:avLst/>
          </a:prstGeom>
          <a:noFill/>
          <a:ln/>
        </p:spPr>
        <p:txBody>
          <a:bodyPr wrap="square" lIns="0" tIns="0" rIns="0" bIns="0" rtlCol="0" anchor="ctr">
            <a:normAutofit/>
          </a:bodyPr>
          <a:lstStyle/>
          <a:p>
            <a:pPr indent="0" marL="0">
              <a:buNone/>
            </a:pPr>
            <a:r>
              <a:rPr lang="en-US" sz="2400" b="1" dirty="0">
                <a:solidFill>
                  <a:srgbClr val="082338"/>
                </a:solidFill>
                <a:latin typeface="Aptos Display" pitchFamily="34" charset="0"/>
                <a:ea typeface="Aptos Display" pitchFamily="34" charset="-122"/>
                <a:cs typeface="Aptos Display" pitchFamily="34" charset="-120"/>
              </a:rPr>
              <a:t>1. Create a deal inspection</a:t>
            </a:r>
            <a:endParaRPr lang="en-US" sz="2400" dirty="0"/>
          </a:p>
        </p:txBody>
      </p:sp>
      <p:sp>
        <p:nvSpPr>
          <p:cNvPr id="4" name="Text 2"/>
          <p:cNvSpPr/>
          <p:nvPr/>
        </p:nvSpPr>
        <p:spPr>
          <a:xfrm>
            <a:off x="612648" y="841248"/>
            <a:ext cx="10789920" cy="274320"/>
          </a:xfrm>
          <a:prstGeom prst="rect">
            <a:avLst/>
          </a:prstGeom>
          <a:noFill/>
          <a:ln/>
        </p:spPr>
        <p:txBody>
          <a:bodyPr wrap="square" lIns="0" tIns="0" rIns="0" bIns="0" rtlCol="0" anchor="ctr">
            <a:normAutofit/>
          </a:bodyPr>
          <a:lstStyle/>
          <a:p>
            <a:pPr indent="0" marL="0">
              <a:buNone/>
            </a:pPr>
            <a:r>
              <a:rPr lang="en-US" sz="1050" dirty="0">
                <a:solidFill>
                  <a:srgbClr val="616161"/>
                </a:solidFill>
                <a:latin typeface="Aptos" pitchFamily="34" charset="0"/>
                <a:ea typeface="Aptos" pitchFamily="34" charset="-122"/>
                <a:cs typeface="Aptos" pitchFamily="34" charset="-120"/>
              </a:rPr>
              <a:t>Preparation</a:t>
            </a:r>
            <a:endParaRPr lang="en-US" sz="1050" dirty="0"/>
          </a:p>
        </p:txBody>
      </p:sp>
      <p:sp>
        <p:nvSpPr>
          <p:cNvPr id="5" name="Text 3"/>
          <p:cNvSpPr/>
          <p:nvPr/>
        </p:nvSpPr>
        <p:spPr>
          <a:xfrm>
            <a:off x="594360" y="6547104"/>
            <a:ext cx="2743200" cy="164592"/>
          </a:xfrm>
          <a:prstGeom prst="rect">
            <a:avLst/>
          </a:prstGeom>
          <a:noFill/>
          <a:ln/>
        </p:spPr>
        <p:txBody>
          <a:bodyPr wrap="square" lIns="0" tIns="0" rIns="0" bIns="0" rtlCol="0" anchor="ctr"/>
          <a:lstStyle/>
          <a:p>
            <a:pPr indent="0" marL="0">
              <a:buNone/>
            </a:pPr>
            <a:r>
              <a:rPr lang="en-US" sz="800" dirty="0">
                <a:solidFill>
                  <a:srgbClr val="616161"/>
                </a:solidFill>
                <a:latin typeface="Aptos" pitchFamily="34" charset="0"/>
                <a:ea typeface="Aptos" pitchFamily="34" charset="-122"/>
                <a:cs typeface="Aptos" pitchFamily="34" charset="-120"/>
              </a:rPr>
              <a:t>AITO  |  Huddle</a:t>
            </a:r>
            <a:endParaRPr lang="en-US" sz="800" dirty="0"/>
          </a:p>
        </p:txBody>
      </p:sp>
      <p:sp>
        <p:nvSpPr>
          <p:cNvPr id="6" name="Shape 4"/>
          <p:cNvSpPr/>
          <p:nvPr/>
        </p:nvSpPr>
        <p:spPr>
          <a:xfrm>
            <a:off x="640080" y="1234440"/>
            <a:ext cx="10908792" cy="1554480"/>
          </a:xfrm>
          <a:prstGeom prst="roundRect">
            <a:avLst>
              <a:gd name="adj" fmla="val 3529"/>
            </a:avLst>
          </a:prstGeom>
          <a:solidFill>
            <a:srgbClr val="F5F9FF"/>
          </a:solidFill>
          <a:ln w="8890">
            <a:solidFill>
              <a:srgbClr val="D1D1D1"/>
            </a:solidFill>
            <a:prstDash val="solid"/>
          </a:ln>
        </p:spPr>
      </p:sp>
      <p:sp>
        <p:nvSpPr>
          <p:cNvPr id="7" name="Text 5"/>
          <p:cNvSpPr/>
          <p:nvPr/>
        </p:nvSpPr>
        <p:spPr>
          <a:xfrm>
            <a:off x="868680" y="139903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DESCRIPTION</a:t>
            </a:r>
            <a:endParaRPr lang="en-US" sz="900" dirty="0"/>
          </a:p>
        </p:txBody>
      </p:sp>
      <p:sp>
        <p:nvSpPr>
          <p:cNvPr id="8" name="Text 6"/>
          <p:cNvSpPr/>
          <p:nvPr/>
        </p:nvSpPr>
        <p:spPr>
          <a:xfrm>
            <a:off x="868680" y="1709928"/>
            <a:ext cx="10378440" cy="93268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Review the current opportunity.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CBD"/>
          </a:solidFill>
          <a:ln w="12700">
            <a:solidFill>
              <a:srgbClr val="0F6CBD"/>
            </a:solidFill>
            <a:prstDash val="solid"/>
          </a:ln>
        </p:spPr>
      </p:sp>
      <p:sp>
        <p:nvSpPr>
          <p:cNvPr id="3" name="Text 1"/>
          <p:cNvSpPr/>
          <p:nvPr/>
        </p:nvSpPr>
        <p:spPr>
          <a:xfrm>
            <a:off x="594360" y="347472"/>
            <a:ext cx="10881360" cy="438912"/>
          </a:xfrm>
          <a:prstGeom prst="rect">
            <a:avLst/>
          </a:prstGeom>
          <a:noFill/>
          <a:ln/>
        </p:spPr>
        <p:txBody>
          <a:bodyPr wrap="square" lIns="0" tIns="0" rIns="0" bIns="0" rtlCol="0" anchor="ctr">
            <a:normAutofit/>
          </a:bodyPr>
          <a:lstStyle/>
          <a:p>
            <a:pPr indent="0" marL="0">
              <a:buNone/>
            </a:pPr>
            <a:r>
              <a:rPr lang="en-US" sz="2400" b="1" dirty="0">
                <a:solidFill>
                  <a:srgbClr val="082338"/>
                </a:solidFill>
                <a:latin typeface="Aptos Display" pitchFamily="34" charset="0"/>
                <a:ea typeface="Aptos Display" pitchFamily="34" charset="-122"/>
                <a:cs typeface="Aptos Display" pitchFamily="34" charset="-120"/>
              </a:rPr>
              <a:t>1. Create a deal inspection</a:t>
            </a:r>
            <a:endParaRPr lang="en-US" sz="2400" dirty="0"/>
          </a:p>
        </p:txBody>
      </p:sp>
      <p:sp>
        <p:nvSpPr>
          <p:cNvPr id="4" name="Text 2"/>
          <p:cNvSpPr/>
          <p:nvPr/>
        </p:nvSpPr>
        <p:spPr>
          <a:xfrm>
            <a:off x="612648" y="841248"/>
            <a:ext cx="10789920" cy="274320"/>
          </a:xfrm>
          <a:prstGeom prst="rect">
            <a:avLst/>
          </a:prstGeom>
          <a:noFill/>
          <a:ln/>
        </p:spPr>
        <p:txBody>
          <a:bodyPr wrap="square" lIns="0" tIns="0" rIns="0" bIns="0" rtlCol="0" anchor="ctr">
            <a:normAutofit/>
          </a:bodyPr>
          <a:lstStyle/>
          <a:p>
            <a:pPr indent="0" marL="0">
              <a:buNone/>
            </a:pPr>
            <a:r>
              <a:rPr lang="en-US" sz="1050" dirty="0">
                <a:solidFill>
                  <a:srgbClr val="616161"/>
                </a:solidFill>
                <a:latin typeface="Aptos" pitchFamily="34" charset="0"/>
                <a:ea typeface="Aptos" pitchFamily="34" charset="-122"/>
                <a:cs typeface="Aptos" pitchFamily="34" charset="-120"/>
              </a:rPr>
              <a:t>Preparation</a:t>
            </a:r>
            <a:endParaRPr lang="en-US" sz="1050" dirty="0"/>
          </a:p>
        </p:txBody>
      </p:sp>
      <p:sp>
        <p:nvSpPr>
          <p:cNvPr id="5" name="Text 3"/>
          <p:cNvSpPr/>
          <p:nvPr/>
        </p:nvSpPr>
        <p:spPr>
          <a:xfrm>
            <a:off x="594360" y="6547104"/>
            <a:ext cx="2743200" cy="164592"/>
          </a:xfrm>
          <a:prstGeom prst="rect">
            <a:avLst/>
          </a:prstGeom>
          <a:noFill/>
          <a:ln/>
        </p:spPr>
        <p:txBody>
          <a:bodyPr wrap="square" lIns="0" tIns="0" rIns="0" bIns="0" rtlCol="0" anchor="ctr"/>
          <a:lstStyle/>
          <a:p>
            <a:pPr indent="0" marL="0">
              <a:buNone/>
            </a:pPr>
            <a:r>
              <a:rPr lang="en-US" sz="800" dirty="0">
                <a:solidFill>
                  <a:srgbClr val="616161"/>
                </a:solidFill>
                <a:latin typeface="Aptos" pitchFamily="34" charset="0"/>
                <a:ea typeface="Aptos" pitchFamily="34" charset="-122"/>
                <a:cs typeface="Aptos" pitchFamily="34" charset="-120"/>
              </a:rPr>
              <a:t>AITO  |  Huddle</a:t>
            </a:r>
            <a:endParaRPr lang="en-US" sz="800" dirty="0"/>
          </a:p>
        </p:txBody>
      </p:sp>
      <p:sp>
        <p:nvSpPr>
          <p:cNvPr id="6" name="Shape 4"/>
          <p:cNvSpPr/>
          <p:nvPr/>
        </p:nvSpPr>
        <p:spPr>
          <a:xfrm>
            <a:off x="640080" y="1234440"/>
            <a:ext cx="10908792" cy="1554480"/>
          </a:xfrm>
          <a:prstGeom prst="roundRect">
            <a:avLst>
              <a:gd name="adj" fmla="val 3529"/>
            </a:avLst>
          </a:prstGeom>
          <a:solidFill>
            <a:srgbClr val="F5F9FF"/>
          </a:solidFill>
          <a:ln w="8890">
            <a:solidFill>
              <a:srgbClr val="D1D1D1"/>
            </a:solidFill>
            <a:prstDash val="solid"/>
          </a:ln>
        </p:spPr>
      </p:sp>
      <p:sp>
        <p:nvSpPr>
          <p:cNvPr id="7" name="Text 5"/>
          <p:cNvSpPr/>
          <p:nvPr/>
        </p:nvSpPr>
        <p:spPr>
          <a:xfrm>
            <a:off x="868680" y="139903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PROMPT</a:t>
            </a:r>
            <a:endParaRPr lang="en-US" sz="900" dirty="0"/>
          </a:p>
        </p:txBody>
      </p:sp>
      <p:sp>
        <p:nvSpPr>
          <p:cNvPr id="8" name="Text 6"/>
          <p:cNvSpPr/>
          <p:nvPr/>
        </p:nvSpPr>
        <p:spPr>
          <a:xfrm>
            <a:off x="868680" y="1709928"/>
            <a:ext cx="10378440" cy="93268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CBD"/>
          </a:solidFill>
          <a:ln w="12700">
            <a:solidFill>
              <a:srgbClr val="0F6CBD"/>
            </a:solidFill>
            <a:prstDash val="solid"/>
          </a:ln>
        </p:spPr>
      </p:sp>
      <p:sp>
        <p:nvSpPr>
          <p:cNvPr id="3" name="Text 1"/>
          <p:cNvSpPr/>
          <p:nvPr/>
        </p:nvSpPr>
        <p:spPr>
          <a:xfrm>
            <a:off x="594360" y="347472"/>
            <a:ext cx="10881360" cy="438912"/>
          </a:xfrm>
          <a:prstGeom prst="rect">
            <a:avLst/>
          </a:prstGeom>
          <a:noFill/>
          <a:ln/>
        </p:spPr>
        <p:txBody>
          <a:bodyPr wrap="square" lIns="0" tIns="0" rIns="0" bIns="0" rtlCol="0" anchor="ctr">
            <a:normAutofit/>
          </a:bodyPr>
          <a:lstStyle/>
          <a:p>
            <a:pPr indent="0" marL="0">
              <a:buNone/>
            </a:pPr>
            <a:r>
              <a:rPr lang="en-US" sz="2400" b="1" dirty="0">
                <a:solidFill>
                  <a:srgbClr val="082338"/>
                </a:solidFill>
                <a:latin typeface="Aptos Display" pitchFamily="34" charset="0"/>
                <a:ea typeface="Aptos Display" pitchFamily="34" charset="-122"/>
                <a:cs typeface="Aptos Display" pitchFamily="34" charset="-120"/>
              </a:rPr>
              <a:t>1. Create a deal inspection</a:t>
            </a:r>
            <a:endParaRPr lang="en-US" sz="2400" dirty="0"/>
          </a:p>
        </p:txBody>
      </p:sp>
      <p:sp>
        <p:nvSpPr>
          <p:cNvPr id="4" name="Text 2"/>
          <p:cNvSpPr/>
          <p:nvPr/>
        </p:nvSpPr>
        <p:spPr>
          <a:xfrm>
            <a:off x="612648" y="841248"/>
            <a:ext cx="10789920" cy="274320"/>
          </a:xfrm>
          <a:prstGeom prst="rect">
            <a:avLst/>
          </a:prstGeom>
          <a:noFill/>
          <a:ln/>
        </p:spPr>
        <p:txBody>
          <a:bodyPr wrap="square" lIns="0" tIns="0" rIns="0" bIns="0" rtlCol="0" anchor="ctr">
            <a:normAutofit/>
          </a:bodyPr>
          <a:lstStyle/>
          <a:p>
            <a:pPr indent="0" marL="0">
              <a:buNone/>
            </a:pPr>
            <a:r>
              <a:rPr lang="en-US" sz="1050" dirty="0">
                <a:solidFill>
                  <a:srgbClr val="616161"/>
                </a:solidFill>
                <a:latin typeface="Aptos" pitchFamily="34" charset="0"/>
                <a:ea typeface="Aptos" pitchFamily="34" charset="-122"/>
                <a:cs typeface="Aptos" pitchFamily="34" charset="-120"/>
              </a:rPr>
              <a:t>Preparation</a:t>
            </a:r>
            <a:endParaRPr lang="en-US" sz="1050" dirty="0"/>
          </a:p>
        </p:txBody>
      </p:sp>
      <p:sp>
        <p:nvSpPr>
          <p:cNvPr id="5" name="Text 3"/>
          <p:cNvSpPr/>
          <p:nvPr/>
        </p:nvSpPr>
        <p:spPr>
          <a:xfrm>
            <a:off x="594360" y="6547104"/>
            <a:ext cx="2743200" cy="164592"/>
          </a:xfrm>
          <a:prstGeom prst="rect">
            <a:avLst/>
          </a:prstGeom>
          <a:noFill/>
          <a:ln/>
        </p:spPr>
        <p:txBody>
          <a:bodyPr wrap="square" lIns="0" tIns="0" rIns="0" bIns="0" rtlCol="0" anchor="ctr"/>
          <a:lstStyle/>
          <a:p>
            <a:pPr indent="0" marL="0">
              <a:buNone/>
            </a:pPr>
            <a:r>
              <a:rPr lang="en-US" sz="800" dirty="0">
                <a:solidFill>
                  <a:srgbClr val="616161"/>
                </a:solidFill>
                <a:latin typeface="Aptos" pitchFamily="34" charset="0"/>
                <a:ea typeface="Aptos" pitchFamily="34" charset="-122"/>
                <a:cs typeface="Aptos" pitchFamily="34" charset="-120"/>
              </a:rPr>
              <a:t>AITO  |  Huddle</a:t>
            </a:r>
            <a:endParaRPr lang="en-US" sz="800" dirty="0"/>
          </a:p>
        </p:txBody>
      </p:sp>
      <p:sp>
        <p:nvSpPr>
          <p:cNvPr id="6" name="Shape 4"/>
          <p:cNvSpPr/>
          <p:nvPr/>
        </p:nvSpPr>
        <p:spPr>
          <a:xfrm>
            <a:off x="640080" y="1234440"/>
            <a:ext cx="10908792" cy="1554480"/>
          </a:xfrm>
          <a:prstGeom prst="roundRect">
            <a:avLst>
              <a:gd name="adj" fmla="val 3529"/>
            </a:avLst>
          </a:prstGeom>
          <a:solidFill>
            <a:srgbClr val="F5F9FF"/>
          </a:solidFill>
          <a:ln w="8890">
            <a:solidFill>
              <a:srgbClr val="D1D1D1"/>
            </a:solidFill>
            <a:prstDash val="solid"/>
          </a:ln>
        </p:spPr>
      </p:sp>
      <p:sp>
        <p:nvSpPr>
          <p:cNvPr id="7" name="Text 5"/>
          <p:cNvSpPr/>
          <p:nvPr/>
        </p:nvSpPr>
        <p:spPr>
          <a:xfrm>
            <a:off x="868680" y="139903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PROMPT (CONTINUED)</a:t>
            </a:r>
            <a:endParaRPr lang="en-US" sz="900" dirty="0"/>
          </a:p>
        </p:txBody>
      </p:sp>
      <p:sp>
        <p:nvSpPr>
          <p:cNvPr id="8" name="Text 6"/>
          <p:cNvSpPr/>
          <p:nvPr/>
        </p:nvSpPr>
        <p:spPr>
          <a:xfrm>
            <a:off x="868680" y="1709928"/>
            <a:ext cx="10378440" cy="93268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CBD"/>
          </a:solidFill>
          <a:ln w="12700">
            <a:solidFill>
              <a:srgbClr val="0F6CBD"/>
            </a:solidFill>
            <a:prstDash val="solid"/>
          </a:ln>
        </p:spPr>
      </p:sp>
      <p:sp>
        <p:nvSpPr>
          <p:cNvPr id="3" name="Text 1"/>
          <p:cNvSpPr/>
          <p:nvPr/>
        </p:nvSpPr>
        <p:spPr>
          <a:xfrm>
            <a:off x="594360" y="347472"/>
            <a:ext cx="10881360" cy="438912"/>
          </a:xfrm>
          <a:prstGeom prst="rect">
            <a:avLst/>
          </a:prstGeom>
          <a:noFill/>
          <a:ln/>
        </p:spPr>
        <p:txBody>
          <a:bodyPr wrap="square" lIns="0" tIns="0" rIns="0" bIns="0" rtlCol="0" anchor="ctr">
            <a:normAutofit/>
          </a:bodyPr>
          <a:lstStyle/>
          <a:p>
            <a:pPr indent="0" marL="0">
              <a:buNone/>
            </a:pPr>
            <a:r>
              <a:rPr lang="en-US" sz="2400" b="1" dirty="0">
                <a:solidFill>
                  <a:srgbClr val="082338"/>
                </a:solidFill>
                <a:latin typeface="Aptos Display" pitchFamily="34" charset="0"/>
                <a:ea typeface="Aptos Display" pitchFamily="34" charset="-122"/>
                <a:cs typeface="Aptos Display" pitchFamily="34" charset="-120"/>
              </a:rPr>
              <a:t>1. Create a deal inspection</a:t>
            </a:r>
            <a:endParaRPr lang="en-US" sz="2400" dirty="0"/>
          </a:p>
        </p:txBody>
      </p:sp>
      <p:sp>
        <p:nvSpPr>
          <p:cNvPr id="4" name="Text 2"/>
          <p:cNvSpPr/>
          <p:nvPr/>
        </p:nvSpPr>
        <p:spPr>
          <a:xfrm>
            <a:off x="612648" y="841248"/>
            <a:ext cx="10789920" cy="274320"/>
          </a:xfrm>
          <a:prstGeom prst="rect">
            <a:avLst/>
          </a:prstGeom>
          <a:noFill/>
          <a:ln/>
        </p:spPr>
        <p:txBody>
          <a:bodyPr wrap="square" lIns="0" tIns="0" rIns="0" bIns="0" rtlCol="0" anchor="ctr">
            <a:normAutofit/>
          </a:bodyPr>
          <a:lstStyle/>
          <a:p>
            <a:pPr indent="0" marL="0">
              <a:buNone/>
            </a:pPr>
            <a:r>
              <a:rPr lang="en-US" sz="1050" dirty="0">
                <a:solidFill>
                  <a:srgbClr val="616161"/>
                </a:solidFill>
                <a:latin typeface="Aptos" pitchFamily="34" charset="0"/>
                <a:ea typeface="Aptos" pitchFamily="34" charset="-122"/>
                <a:cs typeface="Aptos" pitchFamily="34" charset="-120"/>
              </a:rPr>
              <a:t>Preparation</a:t>
            </a:r>
            <a:endParaRPr lang="en-US" sz="1050" dirty="0"/>
          </a:p>
        </p:txBody>
      </p:sp>
      <p:sp>
        <p:nvSpPr>
          <p:cNvPr id="5" name="Text 3"/>
          <p:cNvSpPr/>
          <p:nvPr/>
        </p:nvSpPr>
        <p:spPr>
          <a:xfrm>
            <a:off x="594360" y="6547104"/>
            <a:ext cx="2743200" cy="164592"/>
          </a:xfrm>
          <a:prstGeom prst="rect">
            <a:avLst/>
          </a:prstGeom>
          <a:noFill/>
          <a:ln/>
        </p:spPr>
        <p:txBody>
          <a:bodyPr wrap="square" lIns="0" tIns="0" rIns="0" bIns="0" rtlCol="0" anchor="ctr"/>
          <a:lstStyle/>
          <a:p>
            <a:pPr indent="0" marL="0">
              <a:buNone/>
            </a:pPr>
            <a:r>
              <a:rPr lang="en-US" sz="800" dirty="0">
                <a:solidFill>
                  <a:srgbClr val="616161"/>
                </a:solidFill>
                <a:latin typeface="Aptos" pitchFamily="34" charset="0"/>
                <a:ea typeface="Aptos" pitchFamily="34" charset="-122"/>
                <a:cs typeface="Aptos" pitchFamily="34" charset="-120"/>
              </a:rPr>
              <a:t>AITO  |  Huddle</a:t>
            </a:r>
            <a:endParaRPr lang="en-US" sz="800" dirty="0"/>
          </a:p>
        </p:txBody>
      </p:sp>
      <p:sp>
        <p:nvSpPr>
          <p:cNvPr id="6" name="Shape 4"/>
          <p:cNvSpPr/>
          <p:nvPr/>
        </p:nvSpPr>
        <p:spPr>
          <a:xfrm>
            <a:off x="640080" y="1234440"/>
            <a:ext cx="10908792" cy="1554480"/>
          </a:xfrm>
          <a:prstGeom prst="roundRect">
            <a:avLst>
              <a:gd name="adj" fmla="val 3529"/>
            </a:avLst>
          </a:prstGeom>
          <a:solidFill>
            <a:srgbClr val="F5F9FF"/>
          </a:solidFill>
          <a:ln w="8890">
            <a:solidFill>
              <a:srgbClr val="D1D1D1"/>
            </a:solidFill>
            <a:prstDash val="solid"/>
          </a:ln>
        </p:spPr>
      </p:sp>
      <p:sp>
        <p:nvSpPr>
          <p:cNvPr id="7" name="Text 5"/>
          <p:cNvSpPr/>
          <p:nvPr/>
        </p:nvSpPr>
        <p:spPr>
          <a:xfrm>
            <a:off x="868680" y="139903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PROMPT (CONTINUED)</a:t>
            </a:r>
            <a:endParaRPr lang="en-US" sz="900" dirty="0"/>
          </a:p>
        </p:txBody>
      </p:sp>
      <p:sp>
        <p:nvSpPr>
          <p:cNvPr id="8" name="Text 6"/>
          <p:cNvSpPr/>
          <p:nvPr/>
        </p:nvSpPr>
        <p:spPr>
          <a:xfrm>
            <a:off x="868680" y="1709928"/>
            <a:ext cx="10378440" cy="93268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CBD"/>
          </a:solidFill>
          <a:ln w="12700">
            <a:solidFill>
              <a:srgbClr val="0F6CBD"/>
            </a:solidFill>
            <a:prstDash val="solid"/>
          </a:ln>
        </p:spPr>
      </p:sp>
      <p:sp>
        <p:nvSpPr>
          <p:cNvPr id="3" name="Text 1"/>
          <p:cNvSpPr/>
          <p:nvPr/>
        </p:nvSpPr>
        <p:spPr>
          <a:xfrm>
            <a:off x="594360" y="347472"/>
            <a:ext cx="10881360" cy="438912"/>
          </a:xfrm>
          <a:prstGeom prst="rect">
            <a:avLst/>
          </a:prstGeom>
          <a:noFill/>
          <a:ln/>
        </p:spPr>
        <p:txBody>
          <a:bodyPr wrap="square" lIns="0" tIns="0" rIns="0" bIns="0" rtlCol="0" anchor="ctr">
            <a:normAutofit/>
          </a:bodyPr>
          <a:lstStyle/>
          <a:p>
            <a:pPr indent="0" marL="0">
              <a:buNone/>
            </a:pPr>
            <a:r>
              <a:rPr lang="en-US" sz="2400" b="1" dirty="0">
                <a:solidFill>
                  <a:srgbClr val="082338"/>
                </a:solidFill>
                <a:latin typeface="Aptos Display" pitchFamily="34" charset="0"/>
                <a:ea typeface="Aptos Display" pitchFamily="34" charset="-122"/>
                <a:cs typeface="Aptos Display" pitchFamily="34" charset="-120"/>
              </a:rPr>
              <a:t>1. Create a deal inspection</a:t>
            </a:r>
            <a:endParaRPr lang="en-US" sz="2400" dirty="0"/>
          </a:p>
        </p:txBody>
      </p:sp>
      <p:sp>
        <p:nvSpPr>
          <p:cNvPr id="4" name="Text 2"/>
          <p:cNvSpPr/>
          <p:nvPr/>
        </p:nvSpPr>
        <p:spPr>
          <a:xfrm>
            <a:off x="612648" y="841248"/>
            <a:ext cx="10789920" cy="274320"/>
          </a:xfrm>
          <a:prstGeom prst="rect">
            <a:avLst/>
          </a:prstGeom>
          <a:noFill/>
          <a:ln/>
        </p:spPr>
        <p:txBody>
          <a:bodyPr wrap="square" lIns="0" tIns="0" rIns="0" bIns="0" rtlCol="0" anchor="ctr">
            <a:normAutofit/>
          </a:bodyPr>
          <a:lstStyle/>
          <a:p>
            <a:pPr indent="0" marL="0">
              <a:buNone/>
            </a:pPr>
            <a:r>
              <a:rPr lang="en-US" sz="1050" dirty="0">
                <a:solidFill>
                  <a:srgbClr val="616161"/>
                </a:solidFill>
                <a:latin typeface="Aptos" pitchFamily="34" charset="0"/>
                <a:ea typeface="Aptos" pitchFamily="34" charset="-122"/>
                <a:cs typeface="Aptos" pitchFamily="34" charset="-120"/>
              </a:rPr>
              <a:t>Preparation</a:t>
            </a:r>
            <a:endParaRPr lang="en-US" sz="1050" dirty="0"/>
          </a:p>
        </p:txBody>
      </p:sp>
      <p:sp>
        <p:nvSpPr>
          <p:cNvPr id="5" name="Text 3"/>
          <p:cNvSpPr/>
          <p:nvPr/>
        </p:nvSpPr>
        <p:spPr>
          <a:xfrm>
            <a:off x="594360" y="6547104"/>
            <a:ext cx="2743200" cy="164592"/>
          </a:xfrm>
          <a:prstGeom prst="rect">
            <a:avLst/>
          </a:prstGeom>
          <a:noFill/>
          <a:ln/>
        </p:spPr>
        <p:txBody>
          <a:bodyPr wrap="square" lIns="0" tIns="0" rIns="0" bIns="0" rtlCol="0" anchor="ctr"/>
          <a:lstStyle/>
          <a:p>
            <a:pPr indent="0" marL="0">
              <a:buNone/>
            </a:pPr>
            <a:r>
              <a:rPr lang="en-US" sz="800" dirty="0">
                <a:solidFill>
                  <a:srgbClr val="616161"/>
                </a:solidFill>
                <a:latin typeface="Aptos" pitchFamily="34" charset="0"/>
                <a:ea typeface="Aptos" pitchFamily="34" charset="-122"/>
                <a:cs typeface="Aptos" pitchFamily="34" charset="-120"/>
              </a:rPr>
              <a:t>AITO  |  Huddle</a:t>
            </a:r>
            <a:endParaRPr lang="en-US" sz="800" dirty="0"/>
          </a:p>
        </p:txBody>
      </p:sp>
      <p:sp>
        <p:nvSpPr>
          <p:cNvPr id="6" name="Shape 4"/>
          <p:cNvSpPr/>
          <p:nvPr/>
        </p:nvSpPr>
        <p:spPr>
          <a:xfrm>
            <a:off x="640080" y="1234440"/>
            <a:ext cx="10908792" cy="1554480"/>
          </a:xfrm>
          <a:prstGeom prst="roundRect">
            <a:avLst>
              <a:gd name="adj" fmla="val 3529"/>
            </a:avLst>
          </a:prstGeom>
          <a:solidFill>
            <a:srgbClr val="F5F9FF"/>
          </a:solidFill>
          <a:ln w="8890">
            <a:solidFill>
              <a:srgbClr val="D1D1D1"/>
            </a:solidFill>
            <a:prstDash val="solid"/>
          </a:ln>
        </p:spPr>
      </p:sp>
      <p:sp>
        <p:nvSpPr>
          <p:cNvPr id="7" name="Text 5"/>
          <p:cNvSpPr/>
          <p:nvPr/>
        </p:nvSpPr>
        <p:spPr>
          <a:xfrm>
            <a:off x="868680" y="139903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PROMPT (CONTINUED)</a:t>
            </a:r>
            <a:endParaRPr lang="en-US" sz="900" dirty="0"/>
          </a:p>
        </p:txBody>
      </p:sp>
      <p:sp>
        <p:nvSpPr>
          <p:cNvPr id="8" name="Text 6"/>
          <p:cNvSpPr/>
          <p:nvPr/>
        </p:nvSpPr>
        <p:spPr>
          <a:xfrm>
            <a:off x="868680" y="1709928"/>
            <a:ext cx="10378440" cy="93268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CBD"/>
          </a:solidFill>
          <a:ln w="12700">
            <a:solidFill>
              <a:srgbClr val="0F6CBD"/>
            </a:solidFill>
            <a:prstDash val="solid"/>
          </a:ln>
        </p:spPr>
      </p:sp>
      <p:sp>
        <p:nvSpPr>
          <p:cNvPr id="3" name="Text 1"/>
          <p:cNvSpPr/>
          <p:nvPr/>
        </p:nvSpPr>
        <p:spPr>
          <a:xfrm>
            <a:off x="594360" y="347472"/>
            <a:ext cx="10881360" cy="438912"/>
          </a:xfrm>
          <a:prstGeom prst="rect">
            <a:avLst/>
          </a:prstGeom>
          <a:noFill/>
          <a:ln/>
        </p:spPr>
        <p:txBody>
          <a:bodyPr wrap="square" lIns="0" tIns="0" rIns="0" bIns="0" rtlCol="0" anchor="ctr">
            <a:normAutofit/>
          </a:bodyPr>
          <a:lstStyle/>
          <a:p>
            <a:pPr indent="0" marL="0">
              <a:buNone/>
            </a:pPr>
            <a:r>
              <a:rPr lang="en-US" sz="2400" b="1" dirty="0">
                <a:solidFill>
                  <a:srgbClr val="082338"/>
                </a:solidFill>
                <a:latin typeface="Aptos Display" pitchFamily="34" charset="0"/>
                <a:ea typeface="Aptos Display" pitchFamily="34" charset="-122"/>
                <a:cs typeface="Aptos Display" pitchFamily="34" charset="-120"/>
              </a:rPr>
              <a:t>1. Create a deal inspection</a:t>
            </a:r>
            <a:endParaRPr lang="en-US" sz="2400" dirty="0"/>
          </a:p>
        </p:txBody>
      </p:sp>
      <p:sp>
        <p:nvSpPr>
          <p:cNvPr id="4" name="Text 2"/>
          <p:cNvSpPr/>
          <p:nvPr/>
        </p:nvSpPr>
        <p:spPr>
          <a:xfrm>
            <a:off x="612648" y="841248"/>
            <a:ext cx="10789920" cy="274320"/>
          </a:xfrm>
          <a:prstGeom prst="rect">
            <a:avLst/>
          </a:prstGeom>
          <a:noFill/>
          <a:ln/>
        </p:spPr>
        <p:txBody>
          <a:bodyPr wrap="square" lIns="0" tIns="0" rIns="0" bIns="0" rtlCol="0" anchor="ctr">
            <a:normAutofit/>
          </a:bodyPr>
          <a:lstStyle/>
          <a:p>
            <a:pPr indent="0" marL="0">
              <a:buNone/>
            </a:pPr>
            <a:r>
              <a:rPr lang="en-US" sz="1050" dirty="0">
                <a:solidFill>
                  <a:srgbClr val="616161"/>
                </a:solidFill>
                <a:latin typeface="Aptos" pitchFamily="34" charset="0"/>
                <a:ea typeface="Aptos" pitchFamily="34" charset="-122"/>
                <a:cs typeface="Aptos" pitchFamily="34" charset="-120"/>
              </a:rPr>
              <a:t>Preparation</a:t>
            </a:r>
            <a:endParaRPr lang="en-US" sz="1050" dirty="0"/>
          </a:p>
        </p:txBody>
      </p:sp>
      <p:sp>
        <p:nvSpPr>
          <p:cNvPr id="5" name="Text 3"/>
          <p:cNvSpPr/>
          <p:nvPr/>
        </p:nvSpPr>
        <p:spPr>
          <a:xfrm>
            <a:off x="594360" y="6547104"/>
            <a:ext cx="2743200" cy="164592"/>
          </a:xfrm>
          <a:prstGeom prst="rect">
            <a:avLst/>
          </a:prstGeom>
          <a:noFill/>
          <a:ln/>
        </p:spPr>
        <p:txBody>
          <a:bodyPr wrap="square" lIns="0" tIns="0" rIns="0" bIns="0" rtlCol="0" anchor="ctr"/>
          <a:lstStyle/>
          <a:p>
            <a:pPr indent="0" marL="0">
              <a:buNone/>
            </a:pPr>
            <a:r>
              <a:rPr lang="en-US" sz="800" dirty="0">
                <a:solidFill>
                  <a:srgbClr val="616161"/>
                </a:solidFill>
                <a:latin typeface="Aptos" pitchFamily="34" charset="0"/>
                <a:ea typeface="Aptos" pitchFamily="34" charset="-122"/>
                <a:cs typeface="Aptos" pitchFamily="34" charset="-120"/>
              </a:rPr>
              <a:t>AITO  |  Huddle</a:t>
            </a:r>
            <a:endParaRPr lang="en-US" sz="800" dirty="0"/>
          </a:p>
        </p:txBody>
      </p:sp>
      <p:sp>
        <p:nvSpPr>
          <p:cNvPr id="6" name="Shape 4"/>
          <p:cNvSpPr/>
          <p:nvPr/>
        </p:nvSpPr>
        <p:spPr>
          <a:xfrm>
            <a:off x="640080" y="1234440"/>
            <a:ext cx="10908792" cy="1554480"/>
          </a:xfrm>
          <a:prstGeom prst="roundRect">
            <a:avLst>
              <a:gd name="adj" fmla="val 3529"/>
            </a:avLst>
          </a:prstGeom>
          <a:solidFill>
            <a:srgbClr val="F5F9FF"/>
          </a:solidFill>
          <a:ln w="8890">
            <a:solidFill>
              <a:srgbClr val="D1D1D1"/>
            </a:solidFill>
            <a:prstDash val="solid"/>
          </a:ln>
        </p:spPr>
      </p:sp>
      <p:sp>
        <p:nvSpPr>
          <p:cNvPr id="7" name="Text 5"/>
          <p:cNvSpPr/>
          <p:nvPr/>
        </p:nvSpPr>
        <p:spPr>
          <a:xfrm>
            <a:off x="868680" y="139903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PROMPT (CONTINUED)</a:t>
            </a:r>
            <a:endParaRPr lang="en-US" sz="900" dirty="0"/>
          </a:p>
        </p:txBody>
      </p:sp>
      <p:sp>
        <p:nvSpPr>
          <p:cNvPr id="8" name="Text 6"/>
          <p:cNvSpPr/>
          <p:nvPr/>
        </p:nvSpPr>
        <p:spPr>
          <a:xfrm>
            <a:off x="868680" y="1709928"/>
            <a:ext cx="10378440" cy="93268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CBD"/>
          </a:solidFill>
          <a:ln w="12700">
            <a:solidFill>
              <a:srgbClr val="0F6CBD"/>
            </a:solidFill>
            <a:prstDash val="solid"/>
          </a:ln>
        </p:spPr>
      </p:sp>
      <p:sp>
        <p:nvSpPr>
          <p:cNvPr id="3" name="Text 1"/>
          <p:cNvSpPr/>
          <p:nvPr/>
        </p:nvSpPr>
        <p:spPr>
          <a:xfrm>
            <a:off x="594360" y="347472"/>
            <a:ext cx="10881360" cy="438912"/>
          </a:xfrm>
          <a:prstGeom prst="rect">
            <a:avLst/>
          </a:prstGeom>
          <a:noFill/>
          <a:ln/>
        </p:spPr>
        <p:txBody>
          <a:bodyPr wrap="square" lIns="0" tIns="0" rIns="0" bIns="0" rtlCol="0" anchor="ctr">
            <a:normAutofit/>
          </a:bodyPr>
          <a:lstStyle/>
          <a:p>
            <a:pPr indent="0" marL="0">
              <a:buNone/>
            </a:pPr>
            <a:r>
              <a:rPr lang="en-US" sz="2400" b="1" dirty="0">
                <a:solidFill>
                  <a:srgbClr val="082338"/>
                </a:solidFill>
                <a:latin typeface="Aptos Display" pitchFamily="34" charset="0"/>
                <a:ea typeface="Aptos Display" pitchFamily="34" charset="-122"/>
                <a:cs typeface="Aptos Display" pitchFamily="34" charset="-120"/>
              </a:rPr>
              <a:t>1. Create a deal inspection</a:t>
            </a:r>
            <a:endParaRPr lang="en-US" sz="2400" dirty="0"/>
          </a:p>
        </p:txBody>
      </p:sp>
      <p:sp>
        <p:nvSpPr>
          <p:cNvPr id="4" name="Text 2"/>
          <p:cNvSpPr/>
          <p:nvPr/>
        </p:nvSpPr>
        <p:spPr>
          <a:xfrm>
            <a:off x="612648" y="841248"/>
            <a:ext cx="10789920" cy="274320"/>
          </a:xfrm>
          <a:prstGeom prst="rect">
            <a:avLst/>
          </a:prstGeom>
          <a:noFill/>
          <a:ln/>
        </p:spPr>
        <p:txBody>
          <a:bodyPr wrap="square" lIns="0" tIns="0" rIns="0" bIns="0" rtlCol="0" anchor="ctr">
            <a:normAutofit/>
          </a:bodyPr>
          <a:lstStyle/>
          <a:p>
            <a:pPr indent="0" marL="0">
              <a:buNone/>
            </a:pPr>
            <a:r>
              <a:rPr lang="en-US" sz="1050" dirty="0">
                <a:solidFill>
                  <a:srgbClr val="616161"/>
                </a:solidFill>
                <a:latin typeface="Aptos" pitchFamily="34" charset="0"/>
                <a:ea typeface="Aptos" pitchFamily="34" charset="-122"/>
                <a:cs typeface="Aptos" pitchFamily="34" charset="-120"/>
              </a:rPr>
              <a:t>Preparation</a:t>
            </a:r>
            <a:endParaRPr lang="en-US" sz="1050" dirty="0"/>
          </a:p>
        </p:txBody>
      </p:sp>
      <p:sp>
        <p:nvSpPr>
          <p:cNvPr id="5" name="Text 3"/>
          <p:cNvSpPr/>
          <p:nvPr/>
        </p:nvSpPr>
        <p:spPr>
          <a:xfrm>
            <a:off x="594360" y="6547104"/>
            <a:ext cx="2743200" cy="164592"/>
          </a:xfrm>
          <a:prstGeom prst="rect">
            <a:avLst/>
          </a:prstGeom>
          <a:noFill/>
          <a:ln/>
        </p:spPr>
        <p:txBody>
          <a:bodyPr wrap="square" lIns="0" tIns="0" rIns="0" bIns="0" rtlCol="0" anchor="ctr"/>
          <a:lstStyle/>
          <a:p>
            <a:pPr indent="0" marL="0">
              <a:buNone/>
            </a:pPr>
            <a:r>
              <a:rPr lang="en-US" sz="800" dirty="0">
                <a:solidFill>
                  <a:srgbClr val="616161"/>
                </a:solidFill>
                <a:latin typeface="Aptos" pitchFamily="34" charset="0"/>
                <a:ea typeface="Aptos" pitchFamily="34" charset="-122"/>
                <a:cs typeface="Aptos" pitchFamily="34" charset="-120"/>
              </a:rPr>
              <a:t>AITO  |  Huddle</a:t>
            </a:r>
            <a:endParaRPr lang="en-US" sz="800" dirty="0"/>
          </a:p>
        </p:txBody>
      </p:sp>
      <p:sp>
        <p:nvSpPr>
          <p:cNvPr id="6" name="Shape 4"/>
          <p:cNvSpPr/>
          <p:nvPr/>
        </p:nvSpPr>
        <p:spPr>
          <a:xfrm>
            <a:off x="640080" y="1234440"/>
            <a:ext cx="10908792" cy="1005840"/>
          </a:xfrm>
          <a:prstGeom prst="roundRect">
            <a:avLst>
              <a:gd name="adj" fmla="val 5455"/>
            </a:avLst>
          </a:prstGeom>
          <a:solidFill>
            <a:srgbClr val="F5F9FF"/>
          </a:solidFill>
          <a:ln w="8890">
            <a:solidFill>
              <a:srgbClr val="D1D1D1"/>
            </a:solidFill>
            <a:prstDash val="solid"/>
          </a:ln>
        </p:spPr>
      </p:sp>
      <p:sp>
        <p:nvSpPr>
          <p:cNvPr id="7" name="Text 5"/>
          <p:cNvSpPr/>
          <p:nvPr/>
        </p:nvSpPr>
        <p:spPr>
          <a:xfrm>
            <a:off x="868680" y="139903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PROMPT (CONTINUED)</a:t>
            </a:r>
            <a:endParaRPr lang="en-US" sz="900" dirty="0"/>
          </a:p>
        </p:txBody>
      </p:sp>
      <p:sp>
        <p:nvSpPr>
          <p:cNvPr id="8" name="Text 6"/>
          <p:cNvSpPr/>
          <p:nvPr/>
        </p:nvSpPr>
        <p:spPr>
          <a:xfrm>
            <a:off x="868680" y="1709928"/>
            <a:ext cx="10378440" cy="38404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 Analyze the opportunity evidence, identify unsupported assumptions, propose mitigations, and clearly separate verified facts from hypotheses.</a:t>
            </a:r>
            <a:endParaRPr lang="en-US" sz="1300" dirty="0"/>
          </a:p>
        </p:txBody>
      </p:sp>
      <p:sp>
        <p:nvSpPr>
          <p:cNvPr id="9" name="Shape 7"/>
          <p:cNvSpPr/>
          <p:nvPr/>
        </p:nvSpPr>
        <p:spPr>
          <a:xfrm>
            <a:off x="640080" y="2350008"/>
            <a:ext cx="10908792" cy="1005840"/>
          </a:xfrm>
          <a:prstGeom prst="roundRect">
            <a:avLst>
              <a:gd name="adj" fmla="val 5455"/>
            </a:avLst>
          </a:prstGeom>
          <a:solidFill>
            <a:srgbClr val="F5F9FF"/>
          </a:solidFill>
          <a:ln w="8890">
            <a:solidFill>
              <a:srgbClr val="D1D1D1"/>
            </a:solidFill>
            <a:prstDash val="solid"/>
          </a:ln>
        </p:spPr>
      </p:sp>
      <p:sp>
        <p:nvSpPr>
          <p:cNvPr id="10" name="Text 8"/>
          <p:cNvSpPr/>
          <p:nvPr/>
        </p:nvSpPr>
        <p:spPr>
          <a:xfrm>
            <a:off x="868680" y="2514600"/>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EXPECTED OUTPUT</a:t>
            </a:r>
            <a:endParaRPr lang="en-US" sz="900" dirty="0"/>
          </a:p>
        </p:txBody>
      </p:sp>
      <p:sp>
        <p:nvSpPr>
          <p:cNvPr id="11" name="Text 9"/>
          <p:cNvSpPr/>
          <p:nvPr/>
        </p:nvSpPr>
        <p:spPr>
          <a:xfrm>
            <a:off x="868680" y="2825496"/>
            <a:ext cx="10378440" cy="38404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A decision-ready deal brief.</a:t>
            </a:r>
            <a:endParaRPr lang="en-US" sz="1300" dirty="0"/>
          </a:p>
        </p:txBody>
      </p:sp>
      <p:sp>
        <p:nvSpPr>
          <p:cNvPr id="12" name="Shape 10"/>
          <p:cNvSpPr/>
          <p:nvPr/>
        </p:nvSpPr>
        <p:spPr>
          <a:xfrm>
            <a:off x="640080" y="3465576"/>
            <a:ext cx="10908792" cy="1005840"/>
          </a:xfrm>
          <a:prstGeom prst="roundRect">
            <a:avLst>
              <a:gd name="adj" fmla="val 5455"/>
            </a:avLst>
          </a:prstGeom>
          <a:solidFill>
            <a:srgbClr val="F5F9FF"/>
          </a:solidFill>
          <a:ln w="8890">
            <a:solidFill>
              <a:srgbClr val="D1D1D1"/>
            </a:solidFill>
            <a:prstDash val="solid"/>
          </a:ln>
        </p:spPr>
      </p:sp>
      <p:sp>
        <p:nvSpPr>
          <p:cNvPr id="13" name="Text 11"/>
          <p:cNvSpPr/>
          <p:nvPr/>
        </p:nvSpPr>
        <p:spPr>
          <a:xfrm>
            <a:off x="868680" y="3630168"/>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HUMAN CHECKPOINT</a:t>
            </a:r>
            <a:endParaRPr lang="en-US" sz="900" dirty="0"/>
          </a:p>
        </p:txBody>
      </p:sp>
      <p:sp>
        <p:nvSpPr>
          <p:cNvPr id="14" name="Text 12"/>
          <p:cNvSpPr/>
          <p:nvPr/>
        </p:nvSpPr>
        <p:spPr>
          <a:xfrm>
            <a:off x="868680" y="3941064"/>
            <a:ext cx="10378440" cy="38404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Verify assumptions and sources.</a:t>
            </a:r>
            <a:endParaRPr lang="en-US" sz="1300" dirty="0"/>
          </a:p>
        </p:txBody>
      </p:sp>
      <p:sp>
        <p:nvSpPr>
          <p:cNvPr id="15" name="Shape 13"/>
          <p:cNvSpPr/>
          <p:nvPr/>
        </p:nvSpPr>
        <p:spPr>
          <a:xfrm>
            <a:off x="640080" y="4581144"/>
            <a:ext cx="10908792" cy="1005840"/>
          </a:xfrm>
          <a:prstGeom prst="roundRect">
            <a:avLst>
              <a:gd name="adj" fmla="val 5455"/>
            </a:avLst>
          </a:prstGeom>
          <a:solidFill>
            <a:srgbClr val="F5F9FF"/>
          </a:solidFill>
          <a:ln w="8890">
            <a:solidFill>
              <a:srgbClr val="D1D1D1"/>
            </a:solidFill>
            <a:prstDash val="solid"/>
          </a:ln>
        </p:spPr>
      </p:sp>
      <p:sp>
        <p:nvSpPr>
          <p:cNvPr id="16" name="Text 14"/>
          <p:cNvSpPr/>
          <p:nvPr/>
        </p:nvSpPr>
        <p:spPr>
          <a:xfrm>
            <a:off x="868680" y="4745736"/>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REQUIRED CONTEXT</a:t>
            </a:r>
            <a:endParaRPr lang="en-US" sz="900" dirty="0"/>
          </a:p>
        </p:txBody>
      </p:sp>
      <p:sp>
        <p:nvSpPr>
          <p:cNvPr id="17" name="Text 15"/>
          <p:cNvSpPr/>
          <p:nvPr/>
        </p:nvSpPr>
        <p:spPr>
          <a:xfrm>
            <a:off x="868680" y="5056632"/>
            <a:ext cx="10378440" cy="38404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Current opportunity data.</a:t>
            </a:r>
            <a:endParaRPr lang="en-US" sz="1300" dirty="0"/>
          </a:p>
        </p:txBody>
      </p:sp>
      <p:sp>
        <p:nvSpPr>
          <p:cNvPr id="18" name="Shape 16"/>
          <p:cNvSpPr/>
          <p:nvPr/>
        </p:nvSpPr>
        <p:spPr>
          <a:xfrm>
            <a:off x="640080" y="5696712"/>
            <a:ext cx="10908792" cy="1005840"/>
          </a:xfrm>
          <a:prstGeom prst="roundRect">
            <a:avLst>
              <a:gd name="adj" fmla="val 5455"/>
            </a:avLst>
          </a:prstGeom>
          <a:solidFill>
            <a:srgbClr val="F5F9FF"/>
          </a:solidFill>
          <a:ln w="8890">
            <a:solidFill>
              <a:srgbClr val="D1D1D1"/>
            </a:solidFill>
            <a:prstDash val="solid"/>
          </a:ln>
        </p:spPr>
      </p:sp>
      <p:sp>
        <p:nvSpPr>
          <p:cNvPr id="19" name="Text 17"/>
          <p:cNvSpPr/>
          <p:nvPr/>
        </p:nvSpPr>
        <p:spPr>
          <a:xfrm>
            <a:off x="868680" y="5861304"/>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BEST-FIT JOB</a:t>
            </a:r>
            <a:endParaRPr lang="en-US" sz="900" dirty="0"/>
          </a:p>
        </p:txBody>
      </p:sp>
      <p:sp>
        <p:nvSpPr>
          <p:cNvPr id="20" name="Text 18"/>
          <p:cNvSpPr/>
          <p:nvPr/>
        </p:nvSpPr>
        <p:spPr>
          <a:xfrm>
            <a:off x="868680" y="6172200"/>
            <a:ext cx="10378440" cy="38404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Strategic opportunity review.</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CBD"/>
          </a:solidFill>
          <a:ln w="12700">
            <a:solidFill>
              <a:srgbClr val="0F6CBD"/>
            </a:solidFill>
            <a:prstDash val="solid"/>
          </a:ln>
        </p:spPr>
      </p:sp>
      <p:sp>
        <p:nvSpPr>
          <p:cNvPr id="3" name="Text 1"/>
          <p:cNvSpPr/>
          <p:nvPr/>
        </p:nvSpPr>
        <p:spPr>
          <a:xfrm>
            <a:off x="594360" y="347472"/>
            <a:ext cx="10881360" cy="438912"/>
          </a:xfrm>
          <a:prstGeom prst="rect">
            <a:avLst/>
          </a:prstGeom>
          <a:noFill/>
          <a:ln/>
        </p:spPr>
        <p:txBody>
          <a:bodyPr wrap="square" lIns="0" tIns="0" rIns="0" bIns="0" rtlCol="0" anchor="ctr">
            <a:normAutofit/>
          </a:bodyPr>
          <a:lstStyle/>
          <a:p>
            <a:pPr indent="0" marL="0">
              <a:buNone/>
            </a:pPr>
            <a:r>
              <a:rPr lang="en-US" sz="2400" b="1" dirty="0">
                <a:solidFill>
                  <a:srgbClr val="082338"/>
                </a:solidFill>
                <a:latin typeface="Aptos Display" pitchFamily="34" charset="0"/>
                <a:ea typeface="Aptos Display" pitchFamily="34" charset="-122"/>
                <a:cs typeface="Aptos Display" pitchFamily="34" charset="-120"/>
              </a:rPr>
              <a:t>Resources</a:t>
            </a:r>
            <a:endParaRPr lang="en-US" sz="2400" dirty="0"/>
          </a:p>
        </p:txBody>
      </p:sp>
      <p:sp>
        <p:nvSpPr>
          <p:cNvPr id="4" name="Text 2"/>
          <p:cNvSpPr/>
          <p:nvPr/>
        </p:nvSpPr>
        <p:spPr>
          <a:xfrm>
            <a:off x="594360" y="6547104"/>
            <a:ext cx="2743200" cy="164592"/>
          </a:xfrm>
          <a:prstGeom prst="rect">
            <a:avLst/>
          </a:prstGeom>
          <a:noFill/>
          <a:ln/>
        </p:spPr>
        <p:txBody>
          <a:bodyPr wrap="square" lIns="0" tIns="0" rIns="0" bIns="0" rtlCol="0" anchor="ctr"/>
          <a:lstStyle/>
          <a:p>
            <a:pPr indent="0" marL="0">
              <a:buNone/>
            </a:pPr>
            <a:r>
              <a:rPr lang="en-US" sz="800" dirty="0">
                <a:solidFill>
                  <a:srgbClr val="616161"/>
                </a:solidFill>
                <a:latin typeface="Aptos" pitchFamily="34" charset="0"/>
                <a:ea typeface="Aptos" pitchFamily="34" charset="-122"/>
                <a:cs typeface="Aptos" pitchFamily="34" charset="-120"/>
              </a:rPr>
              <a:t>AITO  |  Huddle</a:t>
            </a:r>
            <a:endParaRPr lang="en-US" sz="800" dirty="0"/>
          </a:p>
        </p:txBody>
      </p:sp>
      <p:sp>
        <p:nvSpPr>
          <p:cNvPr id="5" name="Text 3">
            <a:hlinkClick r:id="rId1" tooltip=""/>
          </p:cNvPr>
          <p:cNvSpPr/>
          <p:nvPr/>
        </p:nvSpPr>
        <p:spPr>
          <a:xfrm>
            <a:off x="731520" y="1234440"/>
            <a:ext cx="5120640" cy="274320"/>
          </a:xfrm>
          <a:prstGeom prst="rect">
            <a:avLst/>
          </a:prstGeom>
          <a:noFill/>
          <a:ln/>
        </p:spPr>
        <p:txBody>
          <a:bodyPr wrap="square" lIns="0" tIns="0" rIns="0" bIns="0" rtlCol="0" anchor="ctr">
            <a:normAutofit/>
          </a:bodyPr>
          <a:lstStyle/>
          <a:p>
            <a:pPr indent="0" marL="0">
              <a:buNone/>
            </a:pPr>
            <a:r>
              <a:rPr lang="en-US" sz="1500" b="1" u="sng" dirty="0">
                <a:solidFill>
                  <a:srgbClr val="242424"/>
                </a:solidFill>
                <a:hlinkClick r:id="rId1" invalidUrl="" action="" tgtFrame="" tooltip="" history="1" highlightClick="0" endSnd="0">
                  <a:extLst>
                    <a:ext uri="{A12FA001-AC4F-418D-AE19-62706E023703}">
                      <ahyp:hlinkClr xmlns:ahyp="http://schemas.microsoft.com/office/drawing/2018/hyperlinkcolor" val="tx"/>
                    </a:ext>
                  </a:extLst>
                </a:hlinkClick>
              </a:rPr>
              <a:t>Approved playbook</a:t>
            </a:r>
            <a:endParaRPr lang="en-US" sz="1500" dirty="0"/>
          </a:p>
        </p:txBody>
      </p:sp>
      <p:sp>
        <p:nvSpPr>
          <p:cNvPr id="6" name="Text 4"/>
          <p:cNvSpPr/>
          <p:nvPr/>
        </p:nvSpPr>
        <p:spPr>
          <a:xfrm>
            <a:off x="731520" y="1563624"/>
            <a:ext cx="10515600" cy="438912"/>
          </a:xfrm>
          <a:prstGeom prst="rect">
            <a:avLst/>
          </a:prstGeom>
          <a:noFill/>
          <a:ln/>
        </p:spPr>
        <p:txBody>
          <a:bodyPr wrap="square" lIns="0" tIns="0" rIns="0" bIns="0" rtlCol="0" anchor="ctr">
            <a:normAutofit/>
          </a:bodyPr>
          <a:lstStyle/>
          <a:p>
            <a:pPr indent="0" marL="0">
              <a:buNone/>
            </a:pPr>
            <a:r>
              <a:rPr lang="en-US" sz="1050" dirty="0">
                <a:solidFill>
                  <a:srgbClr val="616161"/>
                </a:solidFill>
              </a:rPr>
              <a:t>Governed reference material.</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CBD"/>
          </a:solidFill>
          <a:ln w="12700">
            <a:solidFill>
              <a:srgbClr val="0F6CBD"/>
            </a:solidFill>
            <a:prstDash val="solid"/>
          </a:ln>
        </p:spPr>
      </p:sp>
      <p:sp>
        <p:nvSpPr>
          <p:cNvPr id="3" name="Text 1"/>
          <p:cNvSpPr/>
          <p:nvPr/>
        </p:nvSpPr>
        <p:spPr>
          <a:xfrm>
            <a:off x="594360" y="347472"/>
            <a:ext cx="10881360" cy="438912"/>
          </a:xfrm>
          <a:prstGeom prst="rect">
            <a:avLst/>
          </a:prstGeom>
          <a:noFill/>
          <a:ln/>
        </p:spPr>
        <p:txBody>
          <a:bodyPr wrap="square" lIns="0" tIns="0" rIns="0" bIns="0" rtlCol="0" anchor="ctr">
            <a:normAutofit/>
          </a:bodyPr>
          <a:lstStyle/>
          <a:p>
            <a:pPr indent="0" marL="0">
              <a:buNone/>
            </a:pPr>
            <a:r>
              <a:rPr lang="en-US" sz="2400" b="1" dirty="0">
                <a:solidFill>
                  <a:srgbClr val="082338"/>
                </a:solidFill>
                <a:latin typeface="Aptos Display" pitchFamily="34" charset="0"/>
                <a:ea typeface="Aptos Display" pitchFamily="34" charset="-122"/>
                <a:cs typeface="Aptos Display" pitchFamily="34" charset="-120"/>
              </a:rPr>
              <a:t>Reflection and commitment</a:t>
            </a:r>
            <a:endParaRPr lang="en-US" sz="2400" dirty="0"/>
          </a:p>
        </p:txBody>
      </p:sp>
      <p:sp>
        <p:nvSpPr>
          <p:cNvPr id="4" name="Text 2"/>
          <p:cNvSpPr/>
          <p:nvPr/>
        </p:nvSpPr>
        <p:spPr>
          <a:xfrm>
            <a:off x="594360" y="6547104"/>
            <a:ext cx="2743200" cy="164592"/>
          </a:xfrm>
          <a:prstGeom prst="rect">
            <a:avLst/>
          </a:prstGeom>
          <a:noFill/>
          <a:ln/>
        </p:spPr>
        <p:txBody>
          <a:bodyPr wrap="square" lIns="0" tIns="0" rIns="0" bIns="0" rtlCol="0" anchor="ctr"/>
          <a:lstStyle/>
          <a:p>
            <a:pPr indent="0" marL="0">
              <a:buNone/>
            </a:pPr>
            <a:r>
              <a:rPr lang="en-US" sz="800" dirty="0">
                <a:solidFill>
                  <a:srgbClr val="616161"/>
                </a:solidFill>
                <a:latin typeface="Aptos" pitchFamily="34" charset="0"/>
                <a:ea typeface="Aptos" pitchFamily="34" charset="-122"/>
                <a:cs typeface="Aptos" pitchFamily="34" charset="-120"/>
              </a:rPr>
              <a:t>AITO  |  Huddle</a:t>
            </a:r>
            <a:endParaRPr lang="en-US" sz="800" dirty="0"/>
          </a:p>
        </p:txBody>
      </p:sp>
      <p:sp>
        <p:nvSpPr>
          <p:cNvPr id="5" name="Shape 3"/>
          <p:cNvSpPr/>
          <p:nvPr/>
        </p:nvSpPr>
        <p:spPr>
          <a:xfrm>
            <a:off x="640080" y="1417320"/>
            <a:ext cx="10908792" cy="1965960"/>
          </a:xfrm>
          <a:prstGeom prst="roundRect">
            <a:avLst>
              <a:gd name="adj" fmla="val 2791"/>
            </a:avLst>
          </a:prstGeom>
          <a:solidFill>
            <a:srgbClr val="F5F9FF"/>
          </a:solidFill>
          <a:ln w="8890">
            <a:solidFill>
              <a:srgbClr val="D1D1D1"/>
            </a:solidFill>
            <a:prstDash val="solid"/>
          </a:ln>
        </p:spPr>
      </p:sp>
      <p:sp>
        <p:nvSpPr>
          <p:cNvPr id="6" name="Text 4"/>
          <p:cNvSpPr/>
          <p:nvPr/>
        </p:nvSpPr>
        <p:spPr>
          <a:xfrm>
            <a:off x="868680" y="158191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REFLECTION</a:t>
            </a:r>
            <a:endParaRPr lang="en-US" sz="900" dirty="0"/>
          </a:p>
        </p:txBody>
      </p:sp>
      <p:sp>
        <p:nvSpPr>
          <p:cNvPr id="7" name="Text 5"/>
          <p:cNvSpPr/>
          <p:nvPr/>
        </p:nvSpPr>
        <p:spPr>
          <a:xfrm>
            <a:off x="868680" y="1892808"/>
            <a:ext cx="10378440" cy="134416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What changed in your understanding?</a:t>
            </a:r>
            <a:endParaRPr lang="en-US" sz="1300" dirty="0"/>
          </a:p>
        </p:txBody>
      </p:sp>
      <p:sp>
        <p:nvSpPr>
          <p:cNvPr id="8" name="Shape 6"/>
          <p:cNvSpPr/>
          <p:nvPr/>
        </p:nvSpPr>
        <p:spPr>
          <a:xfrm>
            <a:off x="640080" y="3657600"/>
            <a:ext cx="10908792" cy="1965960"/>
          </a:xfrm>
          <a:prstGeom prst="roundRect">
            <a:avLst>
              <a:gd name="adj" fmla="val 2791"/>
            </a:avLst>
          </a:prstGeom>
          <a:solidFill>
            <a:srgbClr val="F5F9FF"/>
          </a:solidFill>
          <a:ln w="8890">
            <a:solidFill>
              <a:srgbClr val="D1D1D1"/>
            </a:solidFill>
            <a:prstDash val="solid"/>
          </a:ln>
        </p:spPr>
      </p:sp>
      <p:sp>
        <p:nvSpPr>
          <p:cNvPr id="9" name="Text 7"/>
          <p:cNvSpPr/>
          <p:nvPr/>
        </p:nvSpPr>
        <p:spPr>
          <a:xfrm>
            <a:off x="868680" y="3822192"/>
            <a:ext cx="10424160" cy="228600"/>
          </a:xfrm>
          <a:prstGeom prst="rect">
            <a:avLst/>
          </a:prstGeom>
          <a:noFill/>
          <a:ln/>
        </p:spPr>
        <p:txBody>
          <a:bodyPr wrap="square" lIns="0" tIns="0" rIns="0" bIns="0" rtlCol="0" anchor="ctr"/>
          <a:lstStyle/>
          <a:p>
            <a:pPr indent="0" marL="0">
              <a:buNone/>
            </a:pPr>
            <a:r>
              <a:rPr lang="en-US" sz="900" b="1" dirty="0">
                <a:solidFill>
                  <a:srgbClr val="0F6CBD"/>
                </a:solidFill>
                <a:latin typeface="Aptos" pitchFamily="34" charset="0"/>
                <a:ea typeface="Aptos" pitchFamily="34" charset="-122"/>
                <a:cs typeface="Aptos" pitchFamily="34" charset="-120"/>
              </a:rPr>
              <a:t>COMMITMENT</a:t>
            </a:r>
            <a:endParaRPr lang="en-US" sz="900" dirty="0"/>
          </a:p>
        </p:txBody>
      </p:sp>
      <p:sp>
        <p:nvSpPr>
          <p:cNvPr id="10" name="Text 8"/>
          <p:cNvSpPr/>
          <p:nvPr/>
        </p:nvSpPr>
        <p:spPr>
          <a:xfrm>
            <a:off x="868680" y="4133088"/>
            <a:ext cx="10378440" cy="1344168"/>
          </a:xfrm>
          <a:prstGeom prst="rect">
            <a:avLst/>
          </a:prstGeom>
          <a:noFill/>
          <a:ln/>
        </p:spPr>
        <p:txBody>
          <a:bodyPr wrap="square" lIns="0" tIns="0" rIns="0" bIns="0" rtlCol="0" anchor="t">
            <a:normAutofit/>
          </a:bodyPr>
          <a:lstStyle/>
          <a:p>
            <a:pPr indent="0" marL="0">
              <a:buNone/>
            </a:pPr>
            <a:r>
              <a:rPr lang="en-US" sz="1300" dirty="0">
                <a:solidFill>
                  <a:srgbClr val="242424"/>
                </a:solidFill>
                <a:latin typeface="Aptos" pitchFamily="34" charset="0"/>
                <a:ea typeface="Aptos" pitchFamily="34" charset="-122"/>
                <a:cs typeface="Aptos" pitchFamily="34" charset="-120"/>
              </a:rPr>
              <a:t>What will you do next?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AITO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Accelerate a Strategic Deal Huddle</dc:title>
  <dc:subject>Accelerate a Strategic Deal</dc:subject>
  <dc:creator>AITO</dc:creator>
  <cp:lastModifiedBy>AITO</cp:lastModifiedBy>
  <cp:revision>1</cp:revision>
  <dcterms:created xsi:type="dcterms:W3CDTF">2026-10-12T12:16:28Z</dcterms:created>
  <dcterms:modified xsi:type="dcterms:W3CDTF">2026-10-12T12:16:28Z</dcterms:modified>
</cp:coreProperties>
</file>